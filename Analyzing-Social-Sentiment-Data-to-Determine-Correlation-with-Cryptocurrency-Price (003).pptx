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9" r:id="rId4"/>
    <p:sldId id="270" r:id="rId5"/>
    <p:sldId id="275" r:id="rId6"/>
    <p:sldId id="261" r:id="rId7"/>
    <p:sldId id="262" r:id="rId8"/>
    <p:sldId id="263" r:id="rId9"/>
    <p:sldId id="264" r:id="rId10"/>
    <p:sldId id="265" r:id="rId11"/>
    <p:sldId id="266" r:id="rId12"/>
    <p:sldId id="271" r:id="rId13"/>
    <p:sldId id="267" r:id="rId14"/>
    <p:sldId id="272" r:id="rId15"/>
    <p:sldId id="268" r:id="rId16"/>
    <p:sldId id="273" r:id="rId17"/>
    <p:sldId id="274" r:id="rId18"/>
    <p:sldId id="269" r:id="rId19"/>
  </p:sldIdLst>
  <p:sldSz cx="14630400" cy="8229600"/>
  <p:notesSz cx="8229600" cy="14630400"/>
  <p:embeddedFontLst>
    <p:embeddedFont>
      <p:font typeface="Roboto" panose="02000000000000000000" pitchFamily="2" charset="0"/>
      <p:regular r:id="rId21"/>
      <p:bold r:id="rId22"/>
    </p:embeddedFont>
    <p:embeddedFont>
      <p:font typeface="Roboto Slab" pitchFamily="2"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07FE21-BFC1-48A8-94B0-584935FC84B4}" v="9" dt="2025-12-06T23:17:10.2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605" y="29"/>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y Shaw" userId="412c1793852a3daa" providerId="LiveId" clId="{D4A7BD9E-A938-4056-98D5-21938923F614}"/>
    <pc:docChg chg="undo custSel addSld delSld modSld">
      <pc:chgData name="Joy Shaw" userId="412c1793852a3daa" providerId="LiveId" clId="{D4A7BD9E-A938-4056-98D5-21938923F614}" dt="2025-12-07T00:59:47.939" v="529" actId="20577"/>
      <pc:docMkLst>
        <pc:docMk/>
      </pc:docMkLst>
      <pc:sldChg chg="del">
        <pc:chgData name="Joy Shaw" userId="412c1793852a3daa" providerId="LiveId" clId="{D4A7BD9E-A938-4056-98D5-21938923F614}" dt="2025-12-06T23:16:34.582" v="454" actId="47"/>
        <pc:sldMkLst>
          <pc:docMk/>
          <pc:sldMk cId="0" sldId="260"/>
        </pc:sldMkLst>
      </pc:sldChg>
      <pc:sldChg chg="modSp mod">
        <pc:chgData name="Joy Shaw" userId="412c1793852a3daa" providerId="LiveId" clId="{D4A7BD9E-A938-4056-98D5-21938923F614}" dt="2025-12-07T00:59:47.939" v="529" actId="20577"/>
        <pc:sldMkLst>
          <pc:docMk/>
          <pc:sldMk cId="0" sldId="261"/>
        </pc:sldMkLst>
        <pc:spChg chg="mod">
          <ac:chgData name="Joy Shaw" userId="412c1793852a3daa" providerId="LiveId" clId="{D4A7BD9E-A938-4056-98D5-21938923F614}" dt="2025-12-07T00:59:47.939" v="529" actId="20577"/>
          <ac:spMkLst>
            <pc:docMk/>
            <pc:sldMk cId="0" sldId="261"/>
            <ac:spMk id="5" creationId="{00000000-0000-0000-0000-000000000000}"/>
          </ac:spMkLst>
        </pc:spChg>
      </pc:sldChg>
      <pc:sldChg chg="addSp delSp mod">
        <pc:chgData name="Joy Shaw" userId="412c1793852a3daa" providerId="LiveId" clId="{D4A7BD9E-A938-4056-98D5-21938923F614}" dt="2025-12-06T23:58:36.957" v="470" actId="21"/>
        <pc:sldMkLst>
          <pc:docMk/>
          <pc:sldMk cId="0" sldId="262"/>
        </pc:sldMkLst>
        <pc:spChg chg="add del">
          <ac:chgData name="Joy Shaw" userId="412c1793852a3daa" providerId="LiveId" clId="{D4A7BD9E-A938-4056-98D5-21938923F614}" dt="2025-12-06T23:58:36.957" v="470" actId="21"/>
          <ac:spMkLst>
            <pc:docMk/>
            <pc:sldMk cId="0" sldId="262"/>
            <ac:spMk id="3" creationId="{00000000-0000-0000-0000-000000000000}"/>
          </ac:spMkLst>
        </pc:spChg>
      </pc:sldChg>
      <pc:sldChg chg="modSp mod">
        <pc:chgData name="Joy Shaw" userId="412c1793852a3daa" providerId="LiveId" clId="{D4A7BD9E-A938-4056-98D5-21938923F614}" dt="2025-12-07T00:07:50.806" v="500" actId="20577"/>
        <pc:sldMkLst>
          <pc:docMk/>
          <pc:sldMk cId="0" sldId="264"/>
        </pc:sldMkLst>
        <pc:spChg chg="mod">
          <ac:chgData name="Joy Shaw" userId="412c1793852a3daa" providerId="LiveId" clId="{D4A7BD9E-A938-4056-98D5-21938923F614}" dt="2025-12-07T00:07:50.806" v="500" actId="20577"/>
          <ac:spMkLst>
            <pc:docMk/>
            <pc:sldMk cId="0" sldId="264"/>
            <ac:spMk id="3" creationId="{00000000-0000-0000-0000-000000000000}"/>
          </ac:spMkLst>
        </pc:spChg>
      </pc:sldChg>
      <pc:sldChg chg="modSp mod">
        <pc:chgData name="Joy Shaw" userId="412c1793852a3daa" providerId="LiveId" clId="{D4A7BD9E-A938-4056-98D5-21938923F614}" dt="2025-12-07T00:19:28.842" v="501" actId="20577"/>
        <pc:sldMkLst>
          <pc:docMk/>
          <pc:sldMk cId="0" sldId="265"/>
        </pc:sldMkLst>
        <pc:spChg chg="mod">
          <ac:chgData name="Joy Shaw" userId="412c1793852a3daa" providerId="LiveId" clId="{D4A7BD9E-A938-4056-98D5-21938923F614}" dt="2025-12-07T00:19:28.842" v="501" actId="20577"/>
          <ac:spMkLst>
            <pc:docMk/>
            <pc:sldMk cId="0" sldId="265"/>
            <ac:spMk id="14" creationId="{25A50B38-4D1C-8288-6013-992CE8AA60D9}"/>
          </ac:spMkLst>
        </pc:spChg>
      </pc:sldChg>
      <pc:sldChg chg="modSp mod">
        <pc:chgData name="Joy Shaw" userId="412c1793852a3daa" providerId="LiveId" clId="{D4A7BD9E-A938-4056-98D5-21938923F614}" dt="2025-12-06T22:50:04.682" v="448" actId="255"/>
        <pc:sldMkLst>
          <pc:docMk/>
          <pc:sldMk cId="0" sldId="268"/>
        </pc:sldMkLst>
        <pc:spChg chg="mod">
          <ac:chgData name="Joy Shaw" userId="412c1793852a3daa" providerId="LiveId" clId="{D4A7BD9E-A938-4056-98D5-21938923F614}" dt="2025-12-06T21:49:35.334" v="30" actId="20577"/>
          <ac:spMkLst>
            <pc:docMk/>
            <pc:sldMk cId="0" sldId="268"/>
            <ac:spMk id="5" creationId="{00000000-0000-0000-0000-000000000000}"/>
          </ac:spMkLst>
        </pc:spChg>
        <pc:spChg chg="mod">
          <ac:chgData name="Joy Shaw" userId="412c1793852a3daa" providerId="LiveId" clId="{D4A7BD9E-A938-4056-98D5-21938923F614}" dt="2025-12-06T21:45:13.659" v="24" actId="20577"/>
          <ac:spMkLst>
            <pc:docMk/>
            <pc:sldMk cId="0" sldId="268"/>
            <ac:spMk id="6" creationId="{00000000-0000-0000-0000-000000000000}"/>
          </ac:spMkLst>
        </pc:spChg>
        <pc:spChg chg="mod">
          <ac:chgData name="Joy Shaw" userId="412c1793852a3daa" providerId="LiveId" clId="{D4A7BD9E-A938-4056-98D5-21938923F614}" dt="2025-12-06T21:44:24.274" v="18" actId="20577"/>
          <ac:spMkLst>
            <pc:docMk/>
            <pc:sldMk cId="0" sldId="268"/>
            <ac:spMk id="7" creationId="{00000000-0000-0000-0000-000000000000}"/>
          </ac:spMkLst>
        </pc:spChg>
        <pc:spChg chg="mod">
          <ac:chgData name="Joy Shaw" userId="412c1793852a3daa" providerId="LiveId" clId="{D4A7BD9E-A938-4056-98D5-21938923F614}" dt="2025-12-06T21:53:11.177" v="61" actId="20577"/>
          <ac:spMkLst>
            <pc:docMk/>
            <pc:sldMk cId="0" sldId="268"/>
            <ac:spMk id="10" creationId="{00000000-0000-0000-0000-000000000000}"/>
          </ac:spMkLst>
        </pc:spChg>
        <pc:spChg chg="mod">
          <ac:chgData name="Joy Shaw" userId="412c1793852a3daa" providerId="LiveId" clId="{D4A7BD9E-A938-4056-98D5-21938923F614}" dt="2025-12-06T21:54:19.122" v="92" actId="20577"/>
          <ac:spMkLst>
            <pc:docMk/>
            <pc:sldMk cId="0" sldId="268"/>
            <ac:spMk id="11" creationId="{00000000-0000-0000-0000-000000000000}"/>
          </ac:spMkLst>
        </pc:spChg>
        <pc:spChg chg="mod">
          <ac:chgData name="Joy Shaw" userId="412c1793852a3daa" providerId="LiveId" clId="{D4A7BD9E-A938-4056-98D5-21938923F614}" dt="2025-12-06T21:54:42.919" v="145" actId="20577"/>
          <ac:spMkLst>
            <pc:docMk/>
            <pc:sldMk cId="0" sldId="268"/>
            <ac:spMk id="12" creationId="{00000000-0000-0000-0000-000000000000}"/>
          </ac:spMkLst>
        </pc:spChg>
        <pc:spChg chg="mod">
          <ac:chgData name="Joy Shaw" userId="412c1793852a3daa" providerId="LiveId" clId="{D4A7BD9E-A938-4056-98D5-21938923F614}" dt="2025-12-06T21:53:17.749" v="68" actId="20577"/>
          <ac:spMkLst>
            <pc:docMk/>
            <pc:sldMk cId="0" sldId="268"/>
            <ac:spMk id="15" creationId="{00000000-0000-0000-0000-000000000000}"/>
          </ac:spMkLst>
        </pc:spChg>
        <pc:spChg chg="mod">
          <ac:chgData name="Joy Shaw" userId="412c1793852a3daa" providerId="LiveId" clId="{D4A7BD9E-A938-4056-98D5-21938923F614}" dt="2025-12-06T21:53:29.171" v="88" actId="20577"/>
          <ac:spMkLst>
            <pc:docMk/>
            <pc:sldMk cId="0" sldId="268"/>
            <ac:spMk id="16" creationId="{00000000-0000-0000-0000-000000000000}"/>
          </ac:spMkLst>
        </pc:spChg>
        <pc:spChg chg="mod">
          <ac:chgData name="Joy Shaw" userId="412c1793852a3daa" providerId="LiveId" clId="{D4A7BD9E-A938-4056-98D5-21938923F614}" dt="2025-12-06T22:50:04.682" v="448" actId="255"/>
          <ac:spMkLst>
            <pc:docMk/>
            <pc:sldMk cId="0" sldId="268"/>
            <ac:spMk id="18" creationId="{00000000-0000-0000-0000-000000000000}"/>
          </ac:spMkLst>
        </pc:spChg>
      </pc:sldChg>
      <pc:sldChg chg="modSp mod">
        <pc:chgData name="Joy Shaw" userId="412c1793852a3daa" providerId="LiveId" clId="{D4A7BD9E-A938-4056-98D5-21938923F614}" dt="2025-12-06T21:57:22.743" v="204" actId="20577"/>
        <pc:sldMkLst>
          <pc:docMk/>
          <pc:sldMk cId="0" sldId="269"/>
        </pc:sldMkLst>
        <pc:spChg chg="mod">
          <ac:chgData name="Joy Shaw" userId="412c1793852a3daa" providerId="LiveId" clId="{D4A7BD9E-A938-4056-98D5-21938923F614}" dt="2025-12-06T21:56:34.295" v="147" actId="20577"/>
          <ac:spMkLst>
            <pc:docMk/>
            <pc:sldMk cId="0" sldId="269"/>
            <ac:spMk id="7" creationId="{00000000-0000-0000-0000-000000000000}"/>
          </ac:spMkLst>
        </pc:spChg>
        <pc:spChg chg="mod">
          <ac:chgData name="Joy Shaw" userId="412c1793852a3daa" providerId="LiveId" clId="{D4A7BD9E-A938-4056-98D5-21938923F614}" dt="2025-12-06T21:57:14.308" v="202" actId="20577"/>
          <ac:spMkLst>
            <pc:docMk/>
            <pc:sldMk cId="0" sldId="269"/>
            <ac:spMk id="14" creationId="{00000000-0000-0000-0000-000000000000}"/>
          </ac:spMkLst>
        </pc:spChg>
        <pc:spChg chg="mod">
          <ac:chgData name="Joy Shaw" userId="412c1793852a3daa" providerId="LiveId" clId="{D4A7BD9E-A938-4056-98D5-21938923F614}" dt="2025-12-06T21:57:22.743" v="204" actId="20577"/>
          <ac:spMkLst>
            <pc:docMk/>
            <pc:sldMk cId="0" sldId="269"/>
            <ac:spMk id="15" creationId="{00000000-0000-0000-0000-000000000000}"/>
          </ac:spMkLst>
        </pc:spChg>
      </pc:sldChg>
      <pc:sldChg chg="modSp add mod">
        <pc:chgData name="Joy Shaw" userId="412c1793852a3daa" providerId="LiveId" clId="{D4A7BD9E-A938-4056-98D5-21938923F614}" dt="2025-12-06T23:52:29.904" v="468" actId="20577"/>
        <pc:sldMkLst>
          <pc:docMk/>
          <pc:sldMk cId="1260685323" sldId="270"/>
        </pc:sldMkLst>
        <pc:spChg chg="mod">
          <ac:chgData name="Joy Shaw" userId="412c1793852a3daa" providerId="LiveId" clId="{D4A7BD9E-A938-4056-98D5-21938923F614}" dt="2025-12-06T23:52:29.904" v="468" actId="20577"/>
          <ac:spMkLst>
            <pc:docMk/>
            <pc:sldMk cId="1260685323" sldId="270"/>
            <ac:spMk id="7" creationId="{00000000-0000-0000-0000-000000000000}"/>
          </ac:spMkLst>
        </pc:spChg>
      </pc:sldChg>
      <pc:sldChg chg="modSp mod">
        <pc:chgData name="Joy Shaw" userId="412c1793852a3daa" providerId="LiveId" clId="{D4A7BD9E-A938-4056-98D5-21938923F614}" dt="2025-12-06T22:50:30.840" v="452" actId="14100"/>
        <pc:sldMkLst>
          <pc:docMk/>
          <pc:sldMk cId="2439595592" sldId="272"/>
        </pc:sldMkLst>
        <pc:spChg chg="mod">
          <ac:chgData name="Joy Shaw" userId="412c1793852a3daa" providerId="LiveId" clId="{D4A7BD9E-A938-4056-98D5-21938923F614}" dt="2025-12-06T22:50:30.840" v="452" actId="14100"/>
          <ac:spMkLst>
            <pc:docMk/>
            <pc:sldMk cId="2439595592" sldId="272"/>
            <ac:spMk id="6" creationId="{E91BDC9E-D69D-8BEA-79A4-C34189E4448D}"/>
          </ac:spMkLst>
        </pc:spChg>
        <pc:picChg chg="mod">
          <ac:chgData name="Joy Shaw" userId="412c1793852a3daa" providerId="LiveId" clId="{D4A7BD9E-A938-4056-98D5-21938923F614}" dt="2025-12-06T22:50:18.308" v="450" actId="14100"/>
          <ac:picMkLst>
            <pc:docMk/>
            <pc:sldMk cId="2439595592" sldId="272"/>
            <ac:picMk id="7" creationId="{C530FE69-1288-5499-3AC7-D3F89D04AD52}"/>
          </ac:picMkLst>
        </pc:picChg>
        <pc:picChg chg="mod">
          <ac:chgData name="Joy Shaw" userId="412c1793852a3daa" providerId="LiveId" clId="{D4A7BD9E-A938-4056-98D5-21938923F614}" dt="2025-12-06T22:50:22.289" v="451" actId="14100"/>
          <ac:picMkLst>
            <pc:docMk/>
            <pc:sldMk cId="2439595592" sldId="272"/>
            <ac:picMk id="11" creationId="{A3696117-F05A-01CC-61F8-0C570AEF38F8}"/>
          </ac:picMkLst>
        </pc:picChg>
      </pc:sldChg>
      <pc:sldChg chg="addSp modSp new mod">
        <pc:chgData name="Joy Shaw" userId="412c1793852a3daa" providerId="LiveId" clId="{D4A7BD9E-A938-4056-98D5-21938923F614}" dt="2025-12-06T21:59:31.518" v="223" actId="20577"/>
        <pc:sldMkLst>
          <pc:docMk/>
          <pc:sldMk cId="3385462755" sldId="273"/>
        </pc:sldMkLst>
        <pc:spChg chg="add mod">
          <ac:chgData name="Joy Shaw" userId="412c1793852a3daa" providerId="LiveId" clId="{D4A7BD9E-A938-4056-98D5-21938923F614}" dt="2025-12-06T21:59:31.518" v="223" actId="20577"/>
          <ac:spMkLst>
            <pc:docMk/>
            <pc:sldMk cId="3385462755" sldId="273"/>
            <ac:spMk id="2" creationId="{E3DA6E8A-721D-3C92-4C7B-58834997334B}"/>
          </ac:spMkLst>
        </pc:spChg>
        <pc:picChg chg="add mod">
          <ac:chgData name="Joy Shaw" userId="412c1793852a3daa" providerId="LiveId" clId="{D4A7BD9E-A938-4056-98D5-21938923F614}" dt="2025-12-06T21:59:16.081" v="219" actId="14100"/>
          <ac:picMkLst>
            <pc:docMk/>
            <pc:sldMk cId="3385462755" sldId="273"/>
            <ac:picMk id="3" creationId="{A3B0A4CC-1256-020B-47EE-D3753865FC2E}"/>
          </ac:picMkLst>
        </pc:picChg>
      </pc:sldChg>
      <pc:sldChg chg="addSp modSp new mod">
        <pc:chgData name="Joy Shaw" userId="412c1793852a3daa" providerId="LiveId" clId="{D4A7BD9E-A938-4056-98D5-21938923F614}" dt="2025-12-06T22:00:22.396" v="237" actId="1076"/>
        <pc:sldMkLst>
          <pc:docMk/>
          <pc:sldMk cId="2410966815" sldId="274"/>
        </pc:sldMkLst>
        <pc:spChg chg="add mod">
          <ac:chgData name="Joy Shaw" userId="412c1793852a3daa" providerId="LiveId" clId="{D4A7BD9E-A938-4056-98D5-21938923F614}" dt="2025-12-06T22:00:22.396" v="237" actId="1076"/>
          <ac:spMkLst>
            <pc:docMk/>
            <pc:sldMk cId="2410966815" sldId="274"/>
            <ac:spMk id="3" creationId="{77C330A8-467E-F7D7-8C21-ADEBB1BCD0C5}"/>
          </ac:spMkLst>
        </pc:spChg>
        <pc:picChg chg="add mod">
          <ac:chgData name="Joy Shaw" userId="412c1793852a3daa" providerId="LiveId" clId="{D4A7BD9E-A938-4056-98D5-21938923F614}" dt="2025-12-06T21:59:57.827" v="229" actId="14100"/>
          <ac:picMkLst>
            <pc:docMk/>
            <pc:sldMk cId="2410966815" sldId="274"/>
            <ac:picMk id="2" creationId="{8ABD5957-1619-6AAB-88E7-ED457037AD1F}"/>
          </ac:picMkLst>
        </pc:picChg>
      </pc:sldChg>
      <pc:sldChg chg="add">
        <pc:chgData name="Joy Shaw" userId="412c1793852a3daa" providerId="LiveId" clId="{D4A7BD9E-A938-4056-98D5-21938923F614}" dt="2025-12-06T23:17:10.257" v="455"/>
        <pc:sldMkLst>
          <pc:docMk/>
          <pc:sldMk cId="2020062209" sldId="2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8323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FAF08-1C80-CE66-1A31-C32342CDBA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52AECF-5039-E50E-CB3F-38F696D6A1B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C154928-D2B7-3CDD-703B-FEB6777FBC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8AD7DE-31BD-3849-7F1B-22B169A6EC61}"/>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6125914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D4139-9B32-92CD-7D4D-DDEEBEED2D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1A7F51-77BB-4786-D57D-76655823CF1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357E048-FB1B-3B5F-E63D-0BAFD94527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4D9380-9030-5D68-1371-94056C707EAB}"/>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754451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718316"/>
            <a:ext cx="7556421" cy="1860233"/>
          </a:xfrm>
          <a:prstGeom prst="rect">
            <a:avLst/>
          </a:prstGeom>
          <a:noFill/>
          <a:ln/>
        </p:spPr>
        <p:txBody>
          <a:bodyPr wrap="squar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Analyzing Social Sentiment Data to Determine Correlation with Cryptocurrency Price</a:t>
            </a:r>
            <a:endParaRPr lang="en-US" sz="3900" dirty="0"/>
          </a:p>
        </p:txBody>
      </p:sp>
      <p:sp>
        <p:nvSpPr>
          <p:cNvPr id="4" name="Text 1"/>
          <p:cNvSpPr/>
          <p:nvPr/>
        </p:nvSpPr>
        <p:spPr>
          <a:xfrm>
            <a:off x="793790" y="4876205"/>
            <a:ext cx="7556421" cy="635079"/>
          </a:xfrm>
          <a:prstGeom prst="rect">
            <a:avLst/>
          </a:prstGeom>
          <a:noFill/>
          <a:ln/>
        </p:spPr>
        <p:txBody>
          <a:bodyPr wrap="square" lIns="0" tIns="0" rIns="0" bIns="0" rtlCol="0" anchor="t"/>
          <a:lstStyle/>
          <a:p>
            <a:pPr>
              <a:lnSpc>
                <a:spcPts val="2500"/>
              </a:lnSpc>
            </a:pPr>
            <a:r>
              <a:rPr lang="en-US" sz="1550" dirty="0">
                <a:solidFill>
                  <a:srgbClr val="15213F"/>
                </a:solidFill>
                <a:latin typeface="Roboto" pitchFamily="34" charset="0"/>
                <a:ea typeface="Roboto" pitchFamily="34" charset="-122"/>
                <a:cs typeface="Roboto" pitchFamily="34" charset="-120"/>
              </a:rPr>
              <a:t>Ripa Shah | MS in Data Science</a:t>
            </a:r>
          </a:p>
          <a:p>
            <a:pPr>
              <a:lnSpc>
                <a:spcPts val="2500"/>
              </a:lnSpc>
            </a:pPr>
            <a:r>
              <a:rPr lang="en-US" sz="1550" dirty="0">
                <a:solidFill>
                  <a:srgbClr val="15213F"/>
                </a:solidFill>
                <a:latin typeface="Roboto" pitchFamily="34" charset="0"/>
                <a:ea typeface="Roboto" pitchFamily="34" charset="-122"/>
                <a:cs typeface="Roboto" pitchFamily="34" charset="-120"/>
              </a:rPr>
              <a:t>Karthikeyan Manickam, Martin Leisin | MS in AI for Business </a:t>
            </a:r>
          </a:p>
          <a:p>
            <a:pPr>
              <a:lnSpc>
                <a:spcPts val="2500"/>
              </a:lnSpc>
            </a:pPr>
            <a:r>
              <a:rPr lang="en-US" sz="1550" dirty="0">
                <a:solidFill>
                  <a:srgbClr val="15213F"/>
                </a:solidFill>
                <a:latin typeface="Roboto" pitchFamily="34" charset="0"/>
                <a:ea typeface="Roboto" pitchFamily="34" charset="-122"/>
                <a:cs typeface="Roboto" pitchFamily="34" charset="-120"/>
              </a:rPr>
              <a:t>University of Arizona</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546265"/>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Research Overview</a:t>
            </a:r>
            <a:endParaRPr lang="en-US" sz="3900" dirty="0"/>
          </a:p>
        </p:txBody>
      </p:sp>
      <p:sp>
        <p:nvSpPr>
          <p:cNvPr id="3" name="Text 1"/>
          <p:cNvSpPr/>
          <p:nvPr/>
        </p:nvSpPr>
        <p:spPr>
          <a:xfrm>
            <a:off x="793790" y="2575501"/>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257B8"/>
                </a:solidFill>
                <a:latin typeface="Roboto Slab" pitchFamily="34" charset="0"/>
                <a:ea typeface="Roboto Slab" pitchFamily="34" charset="-122"/>
                <a:cs typeface="Roboto Slab" pitchFamily="34" charset="-120"/>
              </a:rPr>
              <a:t>The Challenge</a:t>
            </a:r>
            <a:endParaRPr lang="en-US" sz="2300" dirty="0"/>
          </a:p>
        </p:txBody>
      </p:sp>
      <p:sp>
        <p:nvSpPr>
          <p:cNvPr id="4" name="Text 2"/>
          <p:cNvSpPr/>
          <p:nvPr/>
        </p:nvSpPr>
        <p:spPr>
          <a:xfrm>
            <a:off x="793790" y="3232785"/>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Emotional posts on social media platforms like Reddit and Twitter can significantly affect crypto investor </a:t>
            </a:r>
            <a:r>
              <a:rPr lang="en-US" sz="1400" dirty="0">
                <a:solidFill>
                  <a:srgbClr val="15213F"/>
                </a:solidFill>
                <a:latin typeface="Roboto" pitchFamily="34" charset="0"/>
                <a:ea typeface="Roboto" pitchFamily="34" charset="-122"/>
                <a:cs typeface="Roboto" pitchFamily="34" charset="-120"/>
              </a:rPr>
              <a:t>behavior</a:t>
            </a:r>
            <a:r>
              <a:rPr lang="en-US" sz="1550" dirty="0">
                <a:solidFill>
                  <a:srgbClr val="15213F"/>
                </a:solidFill>
                <a:latin typeface="Roboto" pitchFamily="34" charset="0"/>
                <a:ea typeface="Roboto" pitchFamily="34" charset="-122"/>
                <a:cs typeface="Roboto" pitchFamily="34" charset="-120"/>
              </a:rPr>
              <a:t> and price volatility. This research explores whether cryptocurrency prices can be predicted using user sentiment analysis.</a:t>
            </a:r>
            <a:endParaRPr lang="en-US" sz="1550" dirty="0"/>
          </a:p>
        </p:txBody>
      </p:sp>
      <p:sp>
        <p:nvSpPr>
          <p:cNvPr id="5" name="Text 3"/>
          <p:cNvSpPr/>
          <p:nvPr/>
        </p:nvSpPr>
        <p:spPr>
          <a:xfrm>
            <a:off x="7564874" y="2512211"/>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257B8"/>
                </a:solidFill>
                <a:latin typeface="Roboto Slab" pitchFamily="34" charset="0"/>
                <a:ea typeface="Roboto Slab" pitchFamily="34" charset="-122"/>
                <a:cs typeface="Roboto Slab" pitchFamily="34" charset="-120"/>
              </a:rPr>
              <a:t>Our Approach</a:t>
            </a:r>
            <a:endParaRPr lang="en-US" sz="2300" dirty="0"/>
          </a:p>
        </p:txBody>
      </p:sp>
      <p:sp>
        <p:nvSpPr>
          <p:cNvPr id="6" name="Text 4"/>
          <p:cNvSpPr/>
          <p:nvPr/>
        </p:nvSpPr>
        <p:spPr>
          <a:xfrm>
            <a:off x="7461115" y="3058533"/>
            <a:ext cx="6498075" cy="2307074"/>
          </a:xfrm>
          <a:prstGeom prst="rect">
            <a:avLst/>
          </a:prstGeom>
          <a:noFill/>
          <a:ln/>
        </p:spPr>
        <p:txBody>
          <a:bodyPr wrap="square" lIns="0" tIns="0" rIns="0" bIns="0" rtlCol="0" anchor="t"/>
          <a:lstStyle/>
          <a:p>
            <a:pPr marL="0" indent="0" algn="l">
              <a:lnSpc>
                <a:spcPts val="2500"/>
              </a:lnSpc>
              <a:buNone/>
            </a:pPr>
            <a:r>
              <a:rPr lang="en-US" sz="1200" dirty="0">
                <a:solidFill>
                  <a:srgbClr val="15213F"/>
                </a:solidFill>
                <a:latin typeface="Roboto" panose="02000000000000000000" pitchFamily="2" charset="0"/>
                <a:ea typeface="Roboto" panose="02000000000000000000" pitchFamily="2" charset="0"/>
                <a:cs typeface="Roboto" panose="02000000000000000000" pitchFamily="2" charset="0"/>
              </a:rPr>
              <a:t>We collected 12 months of historical and live Reddit sentiment data for five major cryptocurrencies (Bitcoin, Ethereum, Solana, Dogecoin, and Cardano), cross-referenced with Yahoo Finance price data. Module 2 analysis leveraged Azure Cosmos DB for scalable storage and PySpark for distributed data processing.</a:t>
            </a:r>
          </a:p>
          <a:p>
            <a:pPr>
              <a:lnSpc>
                <a:spcPts val="2500"/>
              </a:lnSpc>
            </a:pPr>
            <a:r>
              <a:rPr lang="en-US" sz="1200" dirty="0">
                <a:solidFill>
                  <a:srgbClr val="15213F"/>
                </a:solidFill>
                <a:latin typeface="Roboto" panose="02000000000000000000" pitchFamily="2" charset="0"/>
                <a:ea typeface="Roboto" panose="02000000000000000000" pitchFamily="2" charset="0"/>
                <a:cs typeface="Roboto" panose="02000000000000000000" pitchFamily="2" charset="0"/>
              </a:rPr>
              <a:t>Module 1 analysis focuses on Solana and leverages the Apify API for data collection and to create a web-based solution.</a:t>
            </a:r>
            <a:r>
              <a:rPr lang="en-US" sz="1200" dirty="0">
                <a:latin typeface="Roboto" panose="02000000000000000000" pitchFamily="2" charset="0"/>
                <a:ea typeface="Roboto" panose="02000000000000000000" pitchFamily="2" charset="0"/>
                <a:cs typeface="Roboto" panose="02000000000000000000" pitchFamily="2" charset="0"/>
              </a:rPr>
              <a:t> differentiates from past research by analyzing data from Apify API versus using data directly from the Reddit API</a:t>
            </a:r>
          </a:p>
        </p:txBody>
      </p:sp>
      <p:sp>
        <p:nvSpPr>
          <p:cNvPr id="7" name="Shape 5"/>
          <p:cNvSpPr/>
          <p:nvPr/>
        </p:nvSpPr>
        <p:spPr>
          <a:xfrm>
            <a:off x="793790" y="5539859"/>
            <a:ext cx="4215289" cy="1143476"/>
          </a:xfrm>
          <a:prstGeom prst="roundRect">
            <a:avLst>
              <a:gd name="adj" fmla="val 2604"/>
            </a:avLst>
          </a:prstGeom>
          <a:solidFill>
            <a:srgbClr val="E9ECF2"/>
          </a:solidFill>
          <a:ln/>
        </p:spPr>
        <p:txBody>
          <a:bodyPr/>
          <a:lstStyle/>
          <a:p>
            <a:endParaRPr lang="en-US"/>
          </a:p>
        </p:txBody>
      </p:sp>
      <p:sp>
        <p:nvSpPr>
          <p:cNvPr id="8" name="Text 6"/>
          <p:cNvSpPr/>
          <p:nvPr/>
        </p:nvSpPr>
        <p:spPr>
          <a:xfrm>
            <a:off x="992148" y="573821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Three Algorithms</a:t>
            </a:r>
            <a:endParaRPr lang="en-US" sz="1950" dirty="0"/>
          </a:p>
        </p:txBody>
      </p:sp>
      <p:sp>
        <p:nvSpPr>
          <p:cNvPr id="9" name="Text 7"/>
          <p:cNvSpPr/>
          <p:nvPr/>
        </p:nvSpPr>
        <p:spPr>
          <a:xfrm>
            <a:off x="992148" y="6167438"/>
            <a:ext cx="381857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Random Forest, LSTM, and SVM</a:t>
            </a:r>
            <a:endParaRPr lang="en-US" sz="1550" dirty="0"/>
          </a:p>
        </p:txBody>
      </p:sp>
      <p:sp>
        <p:nvSpPr>
          <p:cNvPr id="10" name="Shape 8"/>
          <p:cNvSpPr/>
          <p:nvPr/>
        </p:nvSpPr>
        <p:spPr>
          <a:xfrm>
            <a:off x="5207437" y="5539859"/>
            <a:ext cx="4215408" cy="1143476"/>
          </a:xfrm>
          <a:prstGeom prst="roundRect">
            <a:avLst>
              <a:gd name="adj" fmla="val 2604"/>
            </a:avLst>
          </a:prstGeom>
          <a:solidFill>
            <a:srgbClr val="E9ECF2"/>
          </a:solidFill>
          <a:ln/>
        </p:spPr>
        <p:txBody>
          <a:bodyPr/>
          <a:lstStyle/>
          <a:p>
            <a:endParaRPr lang="en-US" dirty="0"/>
          </a:p>
        </p:txBody>
      </p:sp>
      <p:sp>
        <p:nvSpPr>
          <p:cNvPr id="11" name="Text 9"/>
          <p:cNvSpPr/>
          <p:nvPr/>
        </p:nvSpPr>
        <p:spPr>
          <a:xfrm>
            <a:off x="5405795" y="5738217"/>
            <a:ext cx="2576274"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Five Cryptocurrencies</a:t>
            </a:r>
            <a:endParaRPr lang="en-US" sz="1950" dirty="0"/>
          </a:p>
        </p:txBody>
      </p:sp>
      <p:sp>
        <p:nvSpPr>
          <p:cNvPr id="12" name="Text 10"/>
          <p:cNvSpPr/>
          <p:nvPr/>
        </p:nvSpPr>
        <p:spPr>
          <a:xfrm>
            <a:off x="5405795" y="6167438"/>
            <a:ext cx="3818692"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BTC, ETH, SOL, DOGE, ADA</a:t>
            </a:r>
            <a:endParaRPr lang="en-US" sz="1550" dirty="0"/>
          </a:p>
        </p:txBody>
      </p:sp>
      <p:sp>
        <p:nvSpPr>
          <p:cNvPr id="13" name="Shape 11"/>
          <p:cNvSpPr/>
          <p:nvPr/>
        </p:nvSpPr>
        <p:spPr>
          <a:xfrm>
            <a:off x="9621203" y="5539859"/>
            <a:ext cx="4215289" cy="1143476"/>
          </a:xfrm>
          <a:prstGeom prst="roundRect">
            <a:avLst>
              <a:gd name="adj" fmla="val 2604"/>
            </a:avLst>
          </a:prstGeom>
          <a:solidFill>
            <a:srgbClr val="E9ECF2"/>
          </a:solidFill>
          <a:ln/>
        </p:spPr>
        <p:txBody>
          <a:bodyPr/>
          <a:lstStyle/>
          <a:p>
            <a:endParaRPr lang="en-US"/>
          </a:p>
        </p:txBody>
      </p:sp>
      <p:sp>
        <p:nvSpPr>
          <p:cNvPr id="14" name="Text 12"/>
          <p:cNvSpPr/>
          <p:nvPr/>
        </p:nvSpPr>
        <p:spPr>
          <a:xfrm>
            <a:off x="9819561" y="573821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12 Months</a:t>
            </a:r>
            <a:endParaRPr lang="en-US" sz="1950" dirty="0"/>
          </a:p>
        </p:txBody>
      </p:sp>
      <p:sp>
        <p:nvSpPr>
          <p:cNvPr id="15" name="Text 13"/>
          <p:cNvSpPr/>
          <p:nvPr/>
        </p:nvSpPr>
        <p:spPr>
          <a:xfrm>
            <a:off x="9819561" y="6167438"/>
            <a:ext cx="381857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Historical &amp; live data collection</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793790" y="1256824"/>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Module 1: Data Collection &amp; Processing</a:t>
            </a:r>
            <a:endParaRPr lang="en-US" sz="3900" dirty="0"/>
          </a:p>
        </p:txBody>
      </p:sp>
      <p:pic>
        <p:nvPicPr>
          <p:cNvPr id="5" name="Image 1" descr="preencoded.png"/>
          <p:cNvPicPr>
            <a:picLocks noChangeAspect="1"/>
          </p:cNvPicPr>
          <p:nvPr/>
        </p:nvPicPr>
        <p:blipFill>
          <a:blip r:embed="rId3"/>
          <a:stretch>
            <a:fillRect/>
          </a:stretch>
        </p:blipFill>
        <p:spPr>
          <a:xfrm>
            <a:off x="793790" y="3108960"/>
            <a:ext cx="3679031" cy="22860"/>
          </a:xfrm>
          <a:prstGeom prst="rect">
            <a:avLst/>
          </a:prstGeom>
        </p:spPr>
      </p:pic>
      <p:sp>
        <p:nvSpPr>
          <p:cNvPr id="6" name="Text 2"/>
          <p:cNvSpPr/>
          <p:nvPr/>
        </p:nvSpPr>
        <p:spPr>
          <a:xfrm>
            <a:off x="793790" y="325385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Data Imports</a:t>
            </a:r>
            <a:endParaRPr lang="en-US" sz="1950" dirty="0"/>
          </a:p>
        </p:txBody>
      </p:sp>
      <p:sp>
        <p:nvSpPr>
          <p:cNvPr id="7" name="Text 3"/>
          <p:cNvSpPr/>
          <p:nvPr/>
        </p:nvSpPr>
        <p:spPr>
          <a:xfrm>
            <a:off x="793790" y="3683079"/>
            <a:ext cx="3679031"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Data gathered from Reddit using Apify API and price data gathered directly from Binance with Python code.</a:t>
            </a:r>
            <a:endParaRPr lang="en-US" sz="1550" dirty="0"/>
          </a:p>
        </p:txBody>
      </p:sp>
      <p:pic>
        <p:nvPicPr>
          <p:cNvPr id="9" name="Image 2" descr="preencoded.png"/>
          <p:cNvPicPr>
            <a:picLocks noChangeAspect="1"/>
          </p:cNvPicPr>
          <p:nvPr/>
        </p:nvPicPr>
        <p:blipFill>
          <a:blip r:embed="rId3"/>
          <a:stretch>
            <a:fillRect/>
          </a:stretch>
        </p:blipFill>
        <p:spPr>
          <a:xfrm>
            <a:off x="4671179" y="3108960"/>
            <a:ext cx="3679031" cy="22860"/>
          </a:xfrm>
          <a:prstGeom prst="rect">
            <a:avLst/>
          </a:prstGeom>
        </p:spPr>
      </p:pic>
      <p:sp>
        <p:nvSpPr>
          <p:cNvPr id="10" name="Text 5"/>
          <p:cNvSpPr/>
          <p:nvPr/>
        </p:nvSpPr>
        <p:spPr>
          <a:xfrm>
            <a:off x="4671179" y="325385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Price Aggregation</a:t>
            </a:r>
            <a:endParaRPr lang="en-US" sz="1950" dirty="0"/>
          </a:p>
        </p:txBody>
      </p:sp>
      <p:sp>
        <p:nvSpPr>
          <p:cNvPr id="11" name="Text 6"/>
          <p:cNvSpPr/>
          <p:nvPr/>
        </p:nvSpPr>
        <p:spPr>
          <a:xfrm>
            <a:off x="4671179" y="3683079"/>
            <a:ext cx="3679031" cy="127015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Price aggregated by date for each cryptocurrency to analyze sentiment-to-price correlation. Data further aggregated by month for detailed trend analysis.</a:t>
            </a:r>
            <a:endParaRPr lang="en-US" sz="1550" dirty="0"/>
          </a:p>
        </p:txBody>
      </p:sp>
      <p:pic>
        <p:nvPicPr>
          <p:cNvPr id="13" name="Image 3" descr="preencoded.png"/>
          <p:cNvPicPr>
            <a:picLocks noChangeAspect="1"/>
          </p:cNvPicPr>
          <p:nvPr/>
        </p:nvPicPr>
        <p:blipFill>
          <a:blip r:embed="rId4"/>
          <a:stretch>
            <a:fillRect/>
          </a:stretch>
        </p:blipFill>
        <p:spPr>
          <a:xfrm>
            <a:off x="793790" y="5508311"/>
            <a:ext cx="7556421" cy="22860"/>
          </a:xfrm>
          <a:prstGeom prst="rect">
            <a:avLst/>
          </a:prstGeom>
        </p:spPr>
      </p:pic>
      <p:sp>
        <p:nvSpPr>
          <p:cNvPr id="14" name="Text 8"/>
          <p:cNvSpPr/>
          <p:nvPr/>
        </p:nvSpPr>
        <p:spPr>
          <a:xfrm>
            <a:off x="793790" y="575964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Sentiment Analysis</a:t>
            </a:r>
            <a:endParaRPr lang="en-US" sz="1950" dirty="0"/>
          </a:p>
        </p:txBody>
      </p:sp>
      <p:sp>
        <p:nvSpPr>
          <p:cNvPr id="15" name="Text 9"/>
          <p:cNvSpPr/>
          <p:nvPr/>
        </p:nvSpPr>
        <p:spPr>
          <a:xfrm>
            <a:off x="793790" y="6188869"/>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Sentiment analyzed from raw data, then with VADER sentiment analysis, hyperparameterized, and cleansed for analysis and modeling.</a:t>
            </a:r>
            <a:endParaRPr lang="en-US" sz="1550" dirty="0"/>
          </a:p>
        </p:txBody>
      </p:sp>
      <p:pic>
        <p:nvPicPr>
          <p:cNvPr id="16" name="Picture 15">
            <a:extLst>
              <a:ext uri="{FF2B5EF4-FFF2-40B4-BE49-F238E27FC236}">
                <a16:creationId xmlns:a16="http://schemas.microsoft.com/office/drawing/2014/main" id="{962D78A4-B79C-3246-A820-8C77EC258D6A}"/>
              </a:ext>
            </a:extLst>
          </p:cNvPr>
          <p:cNvPicPr>
            <a:picLocks noChangeAspect="1"/>
          </p:cNvPicPr>
          <p:nvPr/>
        </p:nvPicPr>
        <p:blipFill>
          <a:blip r:embed="rId5"/>
          <a:stretch>
            <a:fillRect/>
          </a:stretch>
        </p:blipFill>
        <p:spPr>
          <a:xfrm>
            <a:off x="8252704" y="436253"/>
            <a:ext cx="6377696" cy="3180283"/>
          </a:xfrm>
          <a:prstGeom prst="rect">
            <a:avLst/>
          </a:prstGeom>
        </p:spPr>
      </p:pic>
      <p:pic>
        <p:nvPicPr>
          <p:cNvPr id="17" name="Picture 16">
            <a:extLst>
              <a:ext uri="{FF2B5EF4-FFF2-40B4-BE49-F238E27FC236}">
                <a16:creationId xmlns:a16="http://schemas.microsoft.com/office/drawing/2014/main" id="{3CFE368B-F08B-C158-32C8-5B6F75123ADD}"/>
              </a:ext>
            </a:extLst>
          </p:cNvPr>
          <p:cNvPicPr>
            <a:picLocks noChangeAspect="1"/>
          </p:cNvPicPr>
          <p:nvPr/>
        </p:nvPicPr>
        <p:blipFill>
          <a:blip r:embed="rId6"/>
          <a:stretch>
            <a:fillRect/>
          </a:stretch>
        </p:blipFill>
        <p:spPr>
          <a:xfrm>
            <a:off x="8313507" y="3549382"/>
            <a:ext cx="6219615" cy="352613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981557"/>
            <a:ext cx="6002655"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Module 1: Key Discoveries</a:t>
            </a:r>
            <a:endParaRPr lang="en-US" sz="3900" dirty="0"/>
          </a:p>
        </p:txBody>
      </p:sp>
      <p:sp>
        <p:nvSpPr>
          <p:cNvPr id="3" name="Text 1"/>
          <p:cNvSpPr/>
          <p:nvPr/>
        </p:nvSpPr>
        <p:spPr>
          <a:xfrm>
            <a:off x="793790" y="3097649"/>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257B8"/>
                </a:solidFill>
                <a:latin typeface="Roboto Slab" pitchFamily="34" charset="0"/>
                <a:ea typeface="Roboto Slab" pitchFamily="34" charset="-122"/>
                <a:cs typeface="Roboto Slab" pitchFamily="34" charset="-120"/>
              </a:rPr>
              <a:t>Volume Impact</a:t>
            </a:r>
            <a:endParaRPr lang="en-US" sz="2300" dirty="0"/>
          </a:p>
        </p:txBody>
      </p:sp>
      <p:sp>
        <p:nvSpPr>
          <p:cNvPr id="4" name="Text 2"/>
          <p:cNvSpPr/>
          <p:nvPr/>
        </p:nvSpPr>
        <p:spPr>
          <a:xfrm>
            <a:off x="793790" y="3668078"/>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There is a direct correlation between the volume of sentiment data and cryptocurrency price. The two largest months of negative sentiment data correlated to immediate drops in price in the following month for Solana.</a:t>
            </a:r>
            <a:endParaRPr lang="en-US" sz="1550" dirty="0"/>
          </a:p>
        </p:txBody>
      </p:sp>
      <p:sp>
        <p:nvSpPr>
          <p:cNvPr id="5" name="Text 3"/>
          <p:cNvSpPr/>
          <p:nvPr/>
        </p:nvSpPr>
        <p:spPr>
          <a:xfrm>
            <a:off x="793790" y="5116830"/>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When there is a large volume of sentiment data, the price drops in subsequent months. When there is a low volume of data, the price increases in subsequent months.</a:t>
            </a:r>
            <a:endParaRPr lang="en-US" sz="1550" dirty="0"/>
          </a:p>
        </p:txBody>
      </p:sp>
      <p:sp>
        <p:nvSpPr>
          <p:cNvPr id="6" name="Text 4"/>
          <p:cNvSpPr/>
          <p:nvPr/>
        </p:nvSpPr>
        <p:spPr>
          <a:xfrm>
            <a:off x="7564874" y="3097649"/>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257B8"/>
                </a:solidFill>
                <a:latin typeface="Roboto Slab" pitchFamily="34" charset="0"/>
                <a:ea typeface="Roboto Slab" pitchFamily="34" charset="-122"/>
                <a:cs typeface="Roboto Slab" pitchFamily="34" charset="-120"/>
              </a:rPr>
              <a:t>Sentiment Patterns</a:t>
            </a:r>
            <a:endParaRPr lang="en-US" sz="2300" dirty="0"/>
          </a:p>
        </p:txBody>
      </p:sp>
      <p:sp>
        <p:nvSpPr>
          <p:cNvPr id="7" name="Text 5"/>
          <p:cNvSpPr/>
          <p:nvPr/>
        </p:nvSpPr>
        <p:spPr>
          <a:xfrm>
            <a:off x="7564874" y="3668078"/>
            <a:ext cx="6279356" cy="1270159"/>
          </a:xfrm>
          <a:prstGeom prst="rect">
            <a:avLst/>
          </a:prstGeom>
          <a:noFill/>
          <a:ln/>
        </p:spPr>
        <p:txBody>
          <a:bodyPr wrap="square" lIns="0" tIns="0" rIns="0" bIns="0" rtlCol="0" anchor="t"/>
          <a:lstStyle/>
          <a:p>
            <a:pPr>
              <a:lnSpc>
                <a:spcPts val="2500"/>
              </a:lnSpc>
            </a:pPr>
            <a:r>
              <a:rPr lang="en-US" sz="1550" dirty="0">
                <a:solidFill>
                  <a:srgbClr val="15213F"/>
                </a:solidFill>
                <a:latin typeface="Roboto"/>
                <a:ea typeface="Roboto"/>
                <a:cs typeface="Roboto"/>
              </a:rPr>
              <a:t>The months with the largest negative sentiment correlated to drops in price, and the months with the most positive sentiment also correlated to increase in price. Therefore, volume of data was proven to be a predictor of price drops and increases.</a:t>
            </a:r>
            <a:endParaRPr lang="en-US" sz="1550" dirty="0">
              <a:latin typeface="Roboto"/>
              <a:ea typeface="Roboto"/>
              <a:cs typeface="Roboto"/>
            </a:endParaRPr>
          </a:p>
        </p:txBody>
      </p:sp>
      <p:sp>
        <p:nvSpPr>
          <p:cNvPr id="8" name="Text 6"/>
          <p:cNvSpPr/>
          <p:nvPr/>
        </p:nvSpPr>
        <p:spPr>
          <a:xfrm>
            <a:off x="7564874" y="5116830"/>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As volume of sentiment data decreased, generally the price of the cryptocurrency decreased.</a:t>
            </a:r>
            <a:endParaRPr lang="en-US" sz="1550" dirty="0"/>
          </a:p>
        </p:txBody>
      </p:sp>
      <p:pic>
        <p:nvPicPr>
          <p:cNvPr id="10" name="Picture 9">
            <a:extLst>
              <a:ext uri="{FF2B5EF4-FFF2-40B4-BE49-F238E27FC236}">
                <a16:creationId xmlns:a16="http://schemas.microsoft.com/office/drawing/2014/main" id="{E97D3532-F8BB-3D8B-D629-97EFF91342D3}"/>
              </a:ext>
            </a:extLst>
          </p:cNvPr>
          <p:cNvPicPr>
            <a:picLocks noChangeAspect="1"/>
          </p:cNvPicPr>
          <p:nvPr/>
        </p:nvPicPr>
        <p:blipFill>
          <a:blip r:embed="rId3"/>
          <a:stretch>
            <a:fillRect/>
          </a:stretch>
        </p:blipFill>
        <p:spPr>
          <a:xfrm>
            <a:off x="2091974" y="6233126"/>
            <a:ext cx="9240540" cy="1124107"/>
          </a:xfrm>
          <a:prstGeom prst="rect">
            <a:avLst/>
          </a:prstGeom>
        </p:spPr>
      </p:pic>
    </p:spTree>
    <p:extLst>
      <p:ext uri="{BB962C8B-B14F-4D97-AF65-F5344CB8AC3E}">
        <p14:creationId xmlns:p14="http://schemas.microsoft.com/office/powerpoint/2010/main" val="1260685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411605"/>
            <a:ext cx="11522273"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Module 1: Data Collection Challenges</a:t>
            </a:r>
            <a:endParaRPr lang="en-US" sz="3900" dirty="0"/>
          </a:p>
        </p:txBody>
      </p:sp>
      <p:sp>
        <p:nvSpPr>
          <p:cNvPr id="3" name="Text 1"/>
          <p:cNvSpPr/>
          <p:nvPr/>
        </p:nvSpPr>
        <p:spPr>
          <a:xfrm>
            <a:off x="793790" y="242851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a:ea typeface="Roboto"/>
                <a:cs typeface="Roboto"/>
              </a:rPr>
              <a:t>Data collection presented unique obstacles, necessitating innovative solutions to ensure the robustness and breadth of our sentiment analysis.</a:t>
            </a:r>
            <a:endParaRPr lang="en-US" sz="1550" dirty="0">
              <a:latin typeface="Roboto"/>
              <a:ea typeface="Roboto"/>
              <a:cs typeface="Roboto"/>
            </a:endParaRPr>
          </a:p>
        </p:txBody>
      </p:sp>
      <p:sp>
        <p:nvSpPr>
          <p:cNvPr id="4" name="Shape 2"/>
          <p:cNvSpPr/>
          <p:nvPr/>
        </p:nvSpPr>
        <p:spPr>
          <a:xfrm>
            <a:off x="793790" y="3286839"/>
            <a:ext cx="6422231" cy="3531037"/>
          </a:xfrm>
          <a:prstGeom prst="roundRect">
            <a:avLst>
              <a:gd name="adj" fmla="val 3108"/>
            </a:avLst>
          </a:prstGeom>
          <a:solidFill>
            <a:srgbClr val="FBFCFE"/>
          </a:solidFill>
          <a:ln w="22860">
            <a:solidFill>
              <a:srgbClr val="CFD2D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770930" y="3286839"/>
            <a:ext cx="91440" cy="3531037"/>
          </a:xfrm>
          <a:prstGeom prst="rect">
            <a:avLst/>
          </a:prstGeom>
        </p:spPr>
      </p:pic>
      <p:sp>
        <p:nvSpPr>
          <p:cNvPr id="8" name="Text 5"/>
          <p:cNvSpPr/>
          <p:nvPr/>
        </p:nvSpPr>
        <p:spPr>
          <a:xfrm>
            <a:off x="1050537" y="3786087"/>
            <a:ext cx="5911215" cy="2021255"/>
          </a:xfrm>
          <a:prstGeom prst="rect">
            <a:avLst/>
          </a:prstGeom>
          <a:noFill/>
          <a:ln/>
        </p:spPr>
        <p:txBody>
          <a:bodyPr wrap="square" lIns="0" tIns="0" rIns="0" bIns="0" rtlCol="0" anchor="t"/>
          <a:lstStyle/>
          <a:p>
            <a:pPr>
              <a:lnSpc>
                <a:spcPts val="2500"/>
              </a:lnSpc>
            </a:pPr>
            <a:r>
              <a:rPr lang="en-US" sz="1550" b="1">
                <a:solidFill>
                  <a:srgbClr val="15213F"/>
                </a:solidFill>
                <a:latin typeface="Roboto"/>
                <a:ea typeface="Roboto"/>
                <a:cs typeface="Roboto"/>
              </a:rPr>
              <a:t>Access to </a:t>
            </a:r>
            <a:r>
              <a:rPr lang="en-US" sz="1550" b="1" err="1">
                <a:solidFill>
                  <a:srgbClr val="15213F"/>
                </a:solidFill>
                <a:latin typeface="Roboto"/>
                <a:ea typeface="Roboto"/>
                <a:cs typeface="Roboto"/>
              </a:rPr>
              <a:t>Apify</a:t>
            </a:r>
            <a:r>
              <a:rPr lang="en-US" sz="1550" b="1">
                <a:solidFill>
                  <a:srgbClr val="15213F"/>
                </a:solidFill>
                <a:latin typeface="Roboto"/>
                <a:ea typeface="Roboto"/>
                <a:cs typeface="Roboto"/>
              </a:rPr>
              <a:t> API</a:t>
            </a:r>
          </a:p>
          <a:p>
            <a:pPr>
              <a:lnSpc>
                <a:spcPts val="2500"/>
              </a:lnSpc>
            </a:pPr>
            <a:endParaRPr lang="en-US" sz="1550" b="1">
              <a:solidFill>
                <a:srgbClr val="15213F"/>
              </a:solidFill>
              <a:latin typeface="Roboto"/>
              <a:ea typeface="Roboto"/>
              <a:cs typeface="Roboto"/>
            </a:endParaRPr>
          </a:p>
          <a:p>
            <a:pPr>
              <a:lnSpc>
                <a:spcPts val="2500"/>
              </a:lnSpc>
            </a:pPr>
            <a:r>
              <a:rPr lang="en-US" sz="1550">
                <a:solidFill>
                  <a:srgbClr val="15213F"/>
                </a:solidFill>
                <a:latin typeface="Roboto"/>
                <a:ea typeface="Roboto"/>
                <a:cs typeface="Roboto"/>
              </a:rPr>
              <a:t>We successfully leveraged the </a:t>
            </a:r>
            <a:r>
              <a:rPr lang="en-US" sz="1550" err="1">
                <a:solidFill>
                  <a:srgbClr val="007BFF"/>
                </a:solidFill>
                <a:latin typeface="Roboto"/>
                <a:ea typeface="Roboto"/>
                <a:cs typeface="Roboto"/>
              </a:rPr>
              <a:t>Apify</a:t>
            </a:r>
            <a:r>
              <a:rPr lang="en-US" sz="1550">
                <a:solidFill>
                  <a:srgbClr val="007BFF"/>
                </a:solidFill>
                <a:latin typeface="Roboto"/>
                <a:ea typeface="Roboto"/>
                <a:cs typeface="Roboto"/>
              </a:rPr>
              <a:t> API</a:t>
            </a:r>
            <a:r>
              <a:rPr lang="en-US" sz="1550">
                <a:solidFill>
                  <a:srgbClr val="15213F"/>
                </a:solidFill>
                <a:latin typeface="Roboto"/>
                <a:ea typeface="Roboto"/>
                <a:cs typeface="Roboto"/>
              </a:rPr>
              <a:t> to gather sentiment data from relevant cryptocurrency communities on Reddit, ensuring continuous data flow. Using </a:t>
            </a:r>
            <a:r>
              <a:rPr lang="en-US" sz="1550" err="1">
                <a:solidFill>
                  <a:srgbClr val="15213F"/>
                </a:solidFill>
                <a:latin typeface="Roboto"/>
                <a:ea typeface="Roboto"/>
                <a:cs typeface="Roboto"/>
              </a:rPr>
              <a:t>Apify</a:t>
            </a:r>
            <a:r>
              <a:rPr lang="en-US" sz="1550">
                <a:solidFill>
                  <a:srgbClr val="15213F"/>
                </a:solidFill>
                <a:latin typeface="Roboto"/>
                <a:ea typeface="Roboto"/>
                <a:cs typeface="Roboto"/>
              </a:rPr>
              <a:t> API required continuous payment </a:t>
            </a:r>
          </a:p>
        </p:txBody>
      </p:sp>
      <p:sp>
        <p:nvSpPr>
          <p:cNvPr id="9" name="Shape 6"/>
          <p:cNvSpPr/>
          <p:nvPr/>
        </p:nvSpPr>
        <p:spPr>
          <a:xfrm>
            <a:off x="7414379" y="3286839"/>
            <a:ext cx="6422231" cy="3531037"/>
          </a:xfrm>
          <a:prstGeom prst="roundRect">
            <a:avLst>
              <a:gd name="adj" fmla="val 3108"/>
            </a:avLst>
          </a:prstGeom>
          <a:solidFill>
            <a:srgbClr val="FBFCFE"/>
          </a:solidFill>
          <a:ln w="22860">
            <a:solidFill>
              <a:srgbClr val="CFD2D8"/>
            </a:solidFill>
            <a:prstDash val="solid"/>
          </a:ln>
        </p:spPr>
        <p:txBody>
          <a:bodyPr/>
          <a:lstStyle/>
          <a:p>
            <a:endParaRPr lang="en-US"/>
          </a:p>
        </p:txBody>
      </p:sp>
      <p:pic>
        <p:nvPicPr>
          <p:cNvPr id="10" name="Image 1" descr="preencoded.png"/>
          <p:cNvPicPr>
            <a:picLocks noChangeAspect="1"/>
          </p:cNvPicPr>
          <p:nvPr/>
        </p:nvPicPr>
        <p:blipFill>
          <a:blip r:embed="rId3"/>
          <a:stretch>
            <a:fillRect/>
          </a:stretch>
        </p:blipFill>
        <p:spPr>
          <a:xfrm>
            <a:off x="7391519" y="3286839"/>
            <a:ext cx="91440" cy="3531037"/>
          </a:xfrm>
          <a:prstGeom prst="rect">
            <a:avLst/>
          </a:prstGeom>
        </p:spPr>
      </p:pic>
      <p:sp>
        <p:nvSpPr>
          <p:cNvPr id="11" name="Text 7"/>
          <p:cNvSpPr/>
          <p:nvPr/>
        </p:nvSpPr>
        <p:spPr>
          <a:xfrm>
            <a:off x="7704177" y="3508058"/>
            <a:ext cx="3232547"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Big Data Technology &amp; APIs</a:t>
            </a:r>
            <a:endParaRPr lang="en-US" sz="1950" dirty="0"/>
          </a:p>
        </p:txBody>
      </p:sp>
      <p:sp>
        <p:nvSpPr>
          <p:cNvPr id="12" name="Text 8"/>
          <p:cNvSpPr/>
          <p:nvPr/>
        </p:nvSpPr>
        <p:spPr>
          <a:xfrm>
            <a:off x="7704177" y="3937278"/>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To meet the demands of Big Data technology and dynamic reporting, we needed robust APIs for real-time data access and processing.</a:t>
            </a:r>
            <a:endParaRPr lang="en-US" sz="1550" dirty="0"/>
          </a:p>
        </p:txBody>
      </p:sp>
      <p:sp>
        <p:nvSpPr>
          <p:cNvPr id="13" name="Text 9"/>
          <p:cNvSpPr/>
          <p:nvPr/>
        </p:nvSpPr>
        <p:spPr>
          <a:xfrm>
            <a:off x="7704177" y="5008959"/>
            <a:ext cx="5911215" cy="1587698"/>
          </a:xfrm>
          <a:prstGeom prst="rect">
            <a:avLst/>
          </a:prstGeom>
          <a:noFill/>
          <a:ln/>
        </p:spPr>
        <p:txBody>
          <a:bodyPr wrap="squar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Solution:</a:t>
            </a:r>
            <a:r>
              <a:rPr lang="en-US" sz="1550" dirty="0">
                <a:solidFill>
                  <a:srgbClr val="15213F"/>
                </a:solidFill>
                <a:latin typeface="Roboto" pitchFamily="34" charset="0"/>
                <a:ea typeface="Roboto" pitchFamily="34" charset="-122"/>
                <a:cs typeface="Roboto" pitchFamily="34" charset="-120"/>
              </a:rPr>
              <a:t> Custom APIs were developed in Python using </a:t>
            </a:r>
            <a:r>
              <a:rPr lang="en-US" sz="1550" dirty="0">
                <a:solidFill>
                  <a:srgbClr val="007BFF"/>
                </a:solidFill>
                <a:latin typeface="Roboto" pitchFamily="34" charset="0"/>
                <a:ea typeface="Roboto" pitchFamily="34" charset="-122"/>
                <a:cs typeface="Roboto" pitchFamily="34" charset="-120"/>
              </a:rPr>
              <a:t>Grok and Flask</a:t>
            </a:r>
            <a:r>
              <a:rPr lang="en-US" sz="1550" dirty="0">
                <a:solidFill>
                  <a:srgbClr val="15213F"/>
                </a:solidFill>
                <a:latin typeface="Roboto" pitchFamily="34" charset="0"/>
                <a:ea typeface="Roboto" pitchFamily="34" charset="-122"/>
                <a:cs typeface="Roboto" pitchFamily="34" charset="-120"/>
              </a:rPr>
              <a:t>, complete with secure tunneling and authentication. This facilitated dynamic dashboard reporting via a web front-end built with React, allowing functions like Pearson correlation to be called directly.</a:t>
            </a:r>
            <a:endParaRPr lang="en-US" sz="1550" dirty="0"/>
          </a:p>
        </p:txBody>
      </p:sp>
    </p:spTree>
    <p:extLst>
      <p:ext uri="{BB962C8B-B14F-4D97-AF65-F5344CB8AC3E}">
        <p14:creationId xmlns:p14="http://schemas.microsoft.com/office/powerpoint/2010/main" val="2020062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782961"/>
            <a:ext cx="7556421" cy="1240393"/>
          </a:xfrm>
          <a:prstGeom prst="rect">
            <a:avLst/>
          </a:prstGeom>
          <a:noFill/>
          <a:ln/>
        </p:spPr>
        <p:txBody>
          <a:bodyPr wrap="none" lIns="0" tIns="0" rIns="0" bIns="0" rtlCol="0" anchor="t"/>
          <a:lstStyle/>
          <a:p>
            <a:pPr marL="0" indent="0" algn="l">
              <a:lnSpc>
                <a:spcPts val="9750"/>
              </a:lnSpc>
              <a:buNone/>
            </a:pPr>
            <a:r>
              <a:rPr lang="en-US" sz="4800" dirty="0">
                <a:solidFill>
                  <a:srgbClr val="3257B8"/>
                </a:solidFill>
                <a:latin typeface="Roboto Slab" pitchFamily="34" charset="0"/>
                <a:ea typeface="Roboto Slab" pitchFamily="34" charset="-122"/>
                <a:cs typeface="Roboto Slab" pitchFamily="34" charset="-120"/>
              </a:rPr>
              <a:t>MODULE 2</a:t>
            </a:r>
            <a:endParaRPr lang="en-US" sz="4800" dirty="0"/>
          </a:p>
        </p:txBody>
      </p:sp>
      <p:sp>
        <p:nvSpPr>
          <p:cNvPr id="4" name="Text 1"/>
          <p:cNvSpPr/>
          <p:nvPr/>
        </p:nvSpPr>
        <p:spPr>
          <a:xfrm>
            <a:off x="6280190" y="3321010"/>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Advanced Machine Learning Analysis</a:t>
            </a:r>
            <a:endParaRPr lang="en-US" sz="3900" dirty="0"/>
          </a:p>
        </p:txBody>
      </p:sp>
      <p:sp>
        <p:nvSpPr>
          <p:cNvPr id="5" name="Text 2"/>
          <p:cNvSpPr/>
          <p:nvPr/>
        </p:nvSpPr>
        <p:spPr>
          <a:xfrm>
            <a:off x="6280190" y="4858822"/>
            <a:ext cx="7556421" cy="1587698"/>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Using Reddit API and Yahoo Finance Prices, we collected sentiment data and price data and stored those records into Azure CosmosDB database by implementing a Python script. Once we had 12 months of historical and </a:t>
            </a:r>
            <a:r>
              <a:rPr lang="en-US" sz="1550">
                <a:solidFill>
                  <a:srgbClr val="15213F"/>
                </a:solidFill>
                <a:latin typeface="Roboto" pitchFamily="34" charset="0"/>
                <a:ea typeface="Roboto" pitchFamily="34" charset="-122"/>
                <a:cs typeface="Roboto" pitchFamily="34" charset="-120"/>
              </a:rPr>
              <a:t>live data, </a:t>
            </a:r>
            <a:r>
              <a:rPr lang="en-US" sz="1550" dirty="0">
                <a:solidFill>
                  <a:srgbClr val="15213F"/>
                </a:solidFill>
                <a:latin typeface="Roboto" pitchFamily="34" charset="0"/>
                <a:ea typeface="Roboto" pitchFamily="34" charset="-122"/>
                <a:cs typeface="Roboto" pitchFamily="34" charset="-120"/>
              </a:rPr>
              <a:t>we converted those records from Azure CosmosDB to PySpark. By using three main machine learning algorithms, we trained sentiment scores to forecast crypto prices for next 3 months.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682829"/>
            <a:ext cx="7050286"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Module 2: Research Objectives</a:t>
            </a:r>
            <a:endParaRPr lang="en-US" sz="3900" dirty="0"/>
          </a:p>
        </p:txBody>
      </p:sp>
      <p:sp>
        <p:nvSpPr>
          <p:cNvPr id="3" name="Shape 1"/>
          <p:cNvSpPr/>
          <p:nvPr/>
        </p:nvSpPr>
        <p:spPr>
          <a:xfrm>
            <a:off x="793790" y="2699742"/>
            <a:ext cx="6422231" cy="1824276"/>
          </a:xfrm>
          <a:prstGeom prst="roundRect">
            <a:avLst>
              <a:gd name="adj" fmla="val 6015"/>
            </a:avLst>
          </a:prstGeom>
          <a:solidFill>
            <a:srgbClr val="FBFCFE"/>
          </a:solidFill>
          <a:ln w="22860">
            <a:solidFill>
              <a:srgbClr val="CFD2D8"/>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770930" y="2699742"/>
            <a:ext cx="91440" cy="1824276"/>
          </a:xfrm>
          <a:prstGeom prst="rect">
            <a:avLst/>
          </a:prstGeom>
        </p:spPr>
      </p:pic>
      <p:sp>
        <p:nvSpPr>
          <p:cNvPr id="5" name="Text 2"/>
          <p:cNvSpPr/>
          <p:nvPr/>
        </p:nvSpPr>
        <p:spPr>
          <a:xfrm>
            <a:off x="1083588" y="2920960"/>
            <a:ext cx="3636169"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Optimal Forecasting Algorithm</a:t>
            </a:r>
            <a:endParaRPr lang="en-US" sz="1950" dirty="0"/>
          </a:p>
        </p:txBody>
      </p:sp>
      <p:sp>
        <p:nvSpPr>
          <p:cNvPr id="6" name="Text 3"/>
          <p:cNvSpPr/>
          <p:nvPr/>
        </p:nvSpPr>
        <p:spPr>
          <a:xfrm>
            <a:off x="1083588" y="3350181"/>
            <a:ext cx="5911215"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Identify the optimal forecasting algorithm for Bitcoin and Ethereum price movements using advanced machine learning techniques.</a:t>
            </a:r>
            <a:endParaRPr lang="en-US" sz="1550" dirty="0"/>
          </a:p>
        </p:txBody>
      </p:sp>
      <p:sp>
        <p:nvSpPr>
          <p:cNvPr id="7" name="Shape 4"/>
          <p:cNvSpPr/>
          <p:nvPr/>
        </p:nvSpPr>
        <p:spPr>
          <a:xfrm>
            <a:off x="7414379" y="2699742"/>
            <a:ext cx="6422231" cy="1824276"/>
          </a:xfrm>
          <a:prstGeom prst="roundRect">
            <a:avLst>
              <a:gd name="adj" fmla="val 6015"/>
            </a:avLst>
          </a:prstGeom>
          <a:solidFill>
            <a:srgbClr val="FBFCFE"/>
          </a:solidFill>
          <a:ln w="22860">
            <a:solidFill>
              <a:srgbClr val="CFD2D8"/>
            </a:solidFill>
            <a:prstDash val="solid"/>
          </a:ln>
        </p:spPr>
        <p:txBody>
          <a:bodyPr/>
          <a:lstStyle/>
          <a:p>
            <a:endParaRPr lang="en-US"/>
          </a:p>
        </p:txBody>
      </p:sp>
      <p:pic>
        <p:nvPicPr>
          <p:cNvPr id="8" name="Image 1" descr="preencoded.png"/>
          <p:cNvPicPr>
            <a:picLocks noChangeAspect="1"/>
          </p:cNvPicPr>
          <p:nvPr/>
        </p:nvPicPr>
        <p:blipFill>
          <a:blip r:embed="rId3"/>
          <a:stretch>
            <a:fillRect/>
          </a:stretch>
        </p:blipFill>
        <p:spPr>
          <a:xfrm>
            <a:off x="7391519" y="2699742"/>
            <a:ext cx="91440" cy="1824276"/>
          </a:xfrm>
          <a:prstGeom prst="rect">
            <a:avLst/>
          </a:prstGeom>
        </p:spPr>
      </p:pic>
      <p:sp>
        <p:nvSpPr>
          <p:cNvPr id="9" name="Text 5"/>
          <p:cNvSpPr/>
          <p:nvPr/>
        </p:nvSpPr>
        <p:spPr>
          <a:xfrm>
            <a:off x="7704177" y="2920960"/>
            <a:ext cx="2758321"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Sentiment Relationship</a:t>
            </a:r>
            <a:endParaRPr lang="en-US" sz="1950" dirty="0"/>
          </a:p>
        </p:txBody>
      </p:sp>
      <p:sp>
        <p:nvSpPr>
          <p:cNvPr id="10" name="Text 6"/>
          <p:cNvSpPr/>
          <p:nvPr/>
        </p:nvSpPr>
        <p:spPr>
          <a:xfrm>
            <a:off x="7704177" y="3350181"/>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Investigate the complex relationship between sentiment (current, previous-day, and next-day) and cryptocurrency prices to determine the influence of lagged and future public mood.</a:t>
            </a:r>
            <a:endParaRPr lang="en-US" sz="1550" dirty="0"/>
          </a:p>
        </p:txBody>
      </p:sp>
      <p:sp>
        <p:nvSpPr>
          <p:cNvPr id="11" name="Shape 7"/>
          <p:cNvSpPr/>
          <p:nvPr/>
        </p:nvSpPr>
        <p:spPr>
          <a:xfrm>
            <a:off x="793790" y="4722376"/>
            <a:ext cx="6422231" cy="1824276"/>
          </a:xfrm>
          <a:prstGeom prst="roundRect">
            <a:avLst>
              <a:gd name="adj" fmla="val 6015"/>
            </a:avLst>
          </a:prstGeom>
          <a:solidFill>
            <a:srgbClr val="FBFCFE"/>
          </a:solidFill>
          <a:ln w="22860">
            <a:solidFill>
              <a:srgbClr val="CFD2D8"/>
            </a:solidFill>
            <a:prstDash val="solid"/>
          </a:ln>
        </p:spPr>
        <p:txBody>
          <a:bodyPr/>
          <a:lstStyle/>
          <a:p>
            <a:endParaRPr lang="en-US"/>
          </a:p>
        </p:txBody>
      </p:sp>
      <p:pic>
        <p:nvPicPr>
          <p:cNvPr id="12" name="Image 2" descr="preencoded.png"/>
          <p:cNvPicPr>
            <a:picLocks noChangeAspect="1"/>
          </p:cNvPicPr>
          <p:nvPr/>
        </p:nvPicPr>
        <p:blipFill>
          <a:blip r:embed="rId3"/>
          <a:stretch>
            <a:fillRect/>
          </a:stretch>
        </p:blipFill>
        <p:spPr>
          <a:xfrm>
            <a:off x="770930" y="4722376"/>
            <a:ext cx="91440" cy="1824276"/>
          </a:xfrm>
          <a:prstGeom prst="rect">
            <a:avLst/>
          </a:prstGeom>
        </p:spPr>
      </p:pic>
      <p:sp>
        <p:nvSpPr>
          <p:cNvPr id="13" name="Text 8"/>
          <p:cNvSpPr/>
          <p:nvPr/>
        </p:nvSpPr>
        <p:spPr>
          <a:xfrm>
            <a:off x="1083588" y="494359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Storage Solutions</a:t>
            </a:r>
            <a:endParaRPr lang="en-US" sz="1950" dirty="0"/>
          </a:p>
        </p:txBody>
      </p:sp>
      <p:sp>
        <p:nvSpPr>
          <p:cNvPr id="14" name="Text 9"/>
          <p:cNvSpPr/>
          <p:nvPr/>
        </p:nvSpPr>
        <p:spPr>
          <a:xfrm>
            <a:off x="1083588" y="5372814"/>
            <a:ext cx="5911215"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Provide comparative analysis of data storage solutions, assessing the benefits of Azure Cosmos DB over traditional CSV file storage.</a:t>
            </a:r>
            <a:endParaRPr lang="en-US" sz="1550" dirty="0"/>
          </a:p>
        </p:txBody>
      </p:sp>
      <p:sp>
        <p:nvSpPr>
          <p:cNvPr id="15" name="Shape 10"/>
          <p:cNvSpPr/>
          <p:nvPr/>
        </p:nvSpPr>
        <p:spPr>
          <a:xfrm>
            <a:off x="7414379" y="4722376"/>
            <a:ext cx="6422231" cy="1824276"/>
          </a:xfrm>
          <a:prstGeom prst="roundRect">
            <a:avLst>
              <a:gd name="adj" fmla="val 6015"/>
            </a:avLst>
          </a:prstGeom>
          <a:solidFill>
            <a:srgbClr val="FBFCFE"/>
          </a:solidFill>
          <a:ln w="22860">
            <a:solidFill>
              <a:srgbClr val="CFD2D8"/>
            </a:solidFill>
            <a:prstDash val="solid"/>
          </a:ln>
        </p:spPr>
        <p:txBody>
          <a:bodyPr/>
          <a:lstStyle/>
          <a:p>
            <a:endParaRPr lang="en-US"/>
          </a:p>
        </p:txBody>
      </p:sp>
      <p:pic>
        <p:nvPicPr>
          <p:cNvPr id="16" name="Image 3" descr="preencoded.png"/>
          <p:cNvPicPr>
            <a:picLocks noChangeAspect="1"/>
          </p:cNvPicPr>
          <p:nvPr/>
        </p:nvPicPr>
        <p:blipFill>
          <a:blip r:embed="rId3"/>
          <a:stretch>
            <a:fillRect/>
          </a:stretch>
        </p:blipFill>
        <p:spPr>
          <a:xfrm>
            <a:off x="7391519" y="4722376"/>
            <a:ext cx="91440" cy="1824276"/>
          </a:xfrm>
          <a:prstGeom prst="rect">
            <a:avLst/>
          </a:prstGeom>
        </p:spPr>
      </p:pic>
      <p:sp>
        <p:nvSpPr>
          <p:cNvPr id="17" name="Text 11"/>
          <p:cNvSpPr/>
          <p:nvPr/>
        </p:nvSpPr>
        <p:spPr>
          <a:xfrm>
            <a:off x="7704177" y="494359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Data Quality Impact</a:t>
            </a:r>
            <a:endParaRPr lang="en-US" sz="1950" dirty="0"/>
          </a:p>
        </p:txBody>
      </p:sp>
      <p:sp>
        <p:nvSpPr>
          <p:cNvPr id="18" name="Text 12"/>
          <p:cNvSpPr/>
          <p:nvPr/>
        </p:nvSpPr>
        <p:spPr>
          <a:xfrm>
            <a:off x="7704177" y="5372814"/>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Analyze the impact of rigorous data cleaning and exploratory analysis methodologies on overall performance and accuracy of forecasting algorithms.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969407"/>
            <a:ext cx="7825740"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Azure Cosmos DB: Why It Matters</a:t>
            </a:r>
            <a:endParaRPr lang="en-US" sz="3900" dirty="0"/>
          </a:p>
        </p:txBody>
      </p:sp>
      <p:sp>
        <p:nvSpPr>
          <p:cNvPr id="3" name="Shape 1"/>
          <p:cNvSpPr/>
          <p:nvPr/>
        </p:nvSpPr>
        <p:spPr>
          <a:xfrm>
            <a:off x="793790" y="2110383"/>
            <a:ext cx="446484" cy="446484"/>
          </a:xfrm>
          <a:prstGeom prst="roundRect">
            <a:avLst>
              <a:gd name="adj" fmla="val 6668"/>
            </a:avLst>
          </a:prstGeom>
          <a:solidFill>
            <a:srgbClr val="E9ECF2"/>
          </a:solidFill>
          <a:ln/>
        </p:spPr>
        <p:txBody>
          <a:bodyPr/>
          <a:lstStyle/>
          <a:p>
            <a:endParaRPr lang="en-US"/>
          </a:p>
        </p:txBody>
      </p:sp>
      <p:sp>
        <p:nvSpPr>
          <p:cNvPr id="4" name="Text 2"/>
          <p:cNvSpPr/>
          <p:nvPr/>
        </p:nvSpPr>
        <p:spPr>
          <a:xfrm>
            <a:off x="1438632" y="217860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Global Distribution</a:t>
            </a:r>
            <a:endParaRPr lang="en-US" sz="1950" dirty="0"/>
          </a:p>
        </p:txBody>
      </p:sp>
      <p:sp>
        <p:nvSpPr>
          <p:cNvPr id="5" name="Text 3"/>
          <p:cNvSpPr/>
          <p:nvPr/>
        </p:nvSpPr>
        <p:spPr>
          <a:xfrm>
            <a:off x="1438632" y="2687122"/>
            <a:ext cx="6987183"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NoSQL has multi-region write capabilities and automatic geo-replication, allowing applications to serve customers worldwide with low latency. CSV files are limited to specified storage places.</a:t>
            </a:r>
            <a:endParaRPr lang="en-US" sz="1550" dirty="0"/>
          </a:p>
        </p:txBody>
      </p:sp>
      <p:sp>
        <p:nvSpPr>
          <p:cNvPr id="6" name="Shape 4"/>
          <p:cNvSpPr/>
          <p:nvPr/>
        </p:nvSpPr>
        <p:spPr>
          <a:xfrm>
            <a:off x="793790" y="4036576"/>
            <a:ext cx="446484" cy="446484"/>
          </a:xfrm>
          <a:prstGeom prst="roundRect">
            <a:avLst>
              <a:gd name="adj" fmla="val 6668"/>
            </a:avLst>
          </a:prstGeom>
          <a:solidFill>
            <a:srgbClr val="E9ECF2"/>
          </a:solidFill>
          <a:ln/>
        </p:spPr>
        <p:txBody>
          <a:bodyPr/>
          <a:lstStyle/>
          <a:p>
            <a:endParaRPr lang="en-US"/>
          </a:p>
        </p:txBody>
      </p:sp>
      <p:sp>
        <p:nvSpPr>
          <p:cNvPr id="7" name="Text 5"/>
          <p:cNvSpPr/>
          <p:nvPr/>
        </p:nvSpPr>
        <p:spPr>
          <a:xfrm>
            <a:off x="1438632" y="410479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Automatic Indexing</a:t>
            </a:r>
            <a:endParaRPr lang="en-US" sz="1950" dirty="0"/>
          </a:p>
        </p:txBody>
      </p:sp>
      <p:sp>
        <p:nvSpPr>
          <p:cNvPr id="8" name="Text 6"/>
          <p:cNvSpPr/>
          <p:nvPr/>
        </p:nvSpPr>
        <p:spPr>
          <a:xfrm>
            <a:off x="1438632" y="4613315"/>
            <a:ext cx="6987183"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NoSQL automatically indexes data, which improves query performance. Indexing CSV files must be done manually or using external tools, which can be hard and inefficient.</a:t>
            </a:r>
            <a:endParaRPr lang="en-US" sz="1550" dirty="0"/>
          </a:p>
        </p:txBody>
      </p:sp>
      <p:pic>
        <p:nvPicPr>
          <p:cNvPr id="9" name="Image 0" descr="preencoded.png"/>
          <p:cNvPicPr>
            <a:picLocks noChangeAspect="1"/>
          </p:cNvPicPr>
          <p:nvPr/>
        </p:nvPicPr>
        <p:blipFill>
          <a:blip r:embed="rId3"/>
          <a:stretch>
            <a:fillRect/>
          </a:stretch>
        </p:blipFill>
        <p:spPr>
          <a:xfrm>
            <a:off x="8917543" y="2110383"/>
            <a:ext cx="4926568" cy="492656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t="5623"/>
          <a:stretch>
            <a:fillRect/>
          </a:stretch>
        </p:blipFill>
        <p:spPr>
          <a:xfrm>
            <a:off x="9458768" y="260851"/>
            <a:ext cx="4510620" cy="7449770"/>
          </a:xfrm>
          <a:prstGeom prst="rect">
            <a:avLst/>
          </a:prstGeom>
          <a:ln>
            <a:noFill/>
          </a:ln>
          <a:effectLst>
            <a:outerShdw blurRad="190500" algn="tl" rotWithShape="0">
              <a:srgbClr val="000000">
                <a:alpha val="70000"/>
              </a:srgbClr>
            </a:outerShdw>
          </a:effectLst>
        </p:spPr>
      </p:pic>
      <p:sp>
        <p:nvSpPr>
          <p:cNvPr id="3" name="Text 0"/>
          <p:cNvSpPr/>
          <p:nvPr/>
        </p:nvSpPr>
        <p:spPr>
          <a:xfrm>
            <a:off x="793790" y="686514"/>
            <a:ext cx="6591538"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Project Architecture</a:t>
            </a:r>
            <a:endParaRPr lang="en-US" sz="3900" dirty="0"/>
          </a:p>
        </p:txBody>
      </p:sp>
      <p:pic>
        <p:nvPicPr>
          <p:cNvPr id="4" name="Image 1" descr="preencoded.png"/>
          <p:cNvPicPr>
            <a:picLocks noChangeAspect="1"/>
          </p:cNvPicPr>
          <p:nvPr/>
        </p:nvPicPr>
        <p:blipFill>
          <a:blip r:embed="rId4"/>
          <a:stretch>
            <a:fillRect/>
          </a:stretch>
        </p:blipFill>
        <p:spPr>
          <a:xfrm>
            <a:off x="793790" y="1604248"/>
            <a:ext cx="992267" cy="1190744"/>
          </a:xfrm>
          <a:prstGeom prst="rect">
            <a:avLst/>
          </a:prstGeom>
        </p:spPr>
      </p:pic>
      <p:sp>
        <p:nvSpPr>
          <p:cNvPr id="5" name="Text 1"/>
          <p:cNvSpPr/>
          <p:nvPr/>
        </p:nvSpPr>
        <p:spPr>
          <a:xfrm>
            <a:off x="1984415" y="180260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Reddit API</a:t>
            </a:r>
            <a:endParaRPr lang="en-US" sz="1950" dirty="0"/>
          </a:p>
        </p:txBody>
      </p:sp>
      <p:sp>
        <p:nvSpPr>
          <p:cNvPr id="6" name="Text 2"/>
          <p:cNvSpPr/>
          <p:nvPr/>
        </p:nvSpPr>
        <p:spPr>
          <a:xfrm>
            <a:off x="1984415" y="2231827"/>
            <a:ext cx="6365796"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Sentiment data collection with VADER analysis</a:t>
            </a:r>
            <a:endParaRPr lang="en-US" sz="1550" dirty="0"/>
          </a:p>
        </p:txBody>
      </p:sp>
      <p:pic>
        <p:nvPicPr>
          <p:cNvPr id="7" name="Image 2" descr="preencoded.png"/>
          <p:cNvPicPr>
            <a:picLocks noChangeAspect="1"/>
          </p:cNvPicPr>
          <p:nvPr/>
        </p:nvPicPr>
        <p:blipFill>
          <a:blip r:embed="rId5"/>
          <a:stretch>
            <a:fillRect/>
          </a:stretch>
        </p:blipFill>
        <p:spPr>
          <a:xfrm>
            <a:off x="793790" y="2794992"/>
            <a:ext cx="992267" cy="1190744"/>
          </a:xfrm>
          <a:prstGeom prst="rect">
            <a:avLst/>
          </a:prstGeom>
        </p:spPr>
      </p:pic>
      <p:sp>
        <p:nvSpPr>
          <p:cNvPr id="8" name="Text 3"/>
          <p:cNvSpPr/>
          <p:nvPr/>
        </p:nvSpPr>
        <p:spPr>
          <a:xfrm>
            <a:off x="1984415" y="299335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Yahoo Finance</a:t>
            </a:r>
            <a:endParaRPr lang="en-US" sz="1950" dirty="0"/>
          </a:p>
        </p:txBody>
      </p:sp>
      <p:sp>
        <p:nvSpPr>
          <p:cNvPr id="9" name="Text 4"/>
          <p:cNvSpPr/>
          <p:nvPr/>
        </p:nvSpPr>
        <p:spPr>
          <a:xfrm>
            <a:off x="1984415" y="3422571"/>
            <a:ext cx="6365796"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Cryptocurrency price data retrieval</a:t>
            </a:r>
            <a:endParaRPr lang="en-US" sz="1550" dirty="0"/>
          </a:p>
        </p:txBody>
      </p:sp>
      <p:pic>
        <p:nvPicPr>
          <p:cNvPr id="10" name="Image 3" descr="preencoded.png"/>
          <p:cNvPicPr>
            <a:picLocks noChangeAspect="1"/>
          </p:cNvPicPr>
          <p:nvPr/>
        </p:nvPicPr>
        <p:blipFill>
          <a:blip r:embed="rId6"/>
          <a:stretch>
            <a:fillRect/>
          </a:stretch>
        </p:blipFill>
        <p:spPr>
          <a:xfrm>
            <a:off x="793790" y="3985736"/>
            <a:ext cx="992267" cy="1190744"/>
          </a:xfrm>
          <a:prstGeom prst="rect">
            <a:avLst/>
          </a:prstGeom>
        </p:spPr>
      </p:pic>
      <p:sp>
        <p:nvSpPr>
          <p:cNvPr id="11" name="Text 5"/>
          <p:cNvSpPr/>
          <p:nvPr/>
        </p:nvSpPr>
        <p:spPr>
          <a:xfrm>
            <a:off x="1984415" y="418409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Azure Cosmos DB</a:t>
            </a:r>
            <a:endParaRPr lang="en-US" sz="1950" dirty="0"/>
          </a:p>
        </p:txBody>
      </p:sp>
      <p:sp>
        <p:nvSpPr>
          <p:cNvPr id="12" name="Text 6"/>
          <p:cNvSpPr/>
          <p:nvPr/>
        </p:nvSpPr>
        <p:spPr>
          <a:xfrm>
            <a:off x="1984415" y="4613315"/>
            <a:ext cx="6365796"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Scalable NoSQL storage</a:t>
            </a:r>
            <a:endParaRPr lang="en-US" sz="1550" dirty="0"/>
          </a:p>
        </p:txBody>
      </p:sp>
      <p:pic>
        <p:nvPicPr>
          <p:cNvPr id="13" name="Image 4" descr="preencoded.png"/>
          <p:cNvPicPr>
            <a:picLocks noChangeAspect="1"/>
          </p:cNvPicPr>
          <p:nvPr/>
        </p:nvPicPr>
        <p:blipFill>
          <a:blip r:embed="rId7"/>
          <a:stretch>
            <a:fillRect/>
          </a:stretch>
        </p:blipFill>
        <p:spPr>
          <a:xfrm>
            <a:off x="793790" y="5176480"/>
            <a:ext cx="992267" cy="1190744"/>
          </a:xfrm>
          <a:prstGeom prst="rect">
            <a:avLst/>
          </a:prstGeom>
        </p:spPr>
      </p:pic>
      <p:sp>
        <p:nvSpPr>
          <p:cNvPr id="14" name="Text 7"/>
          <p:cNvSpPr/>
          <p:nvPr/>
        </p:nvSpPr>
        <p:spPr>
          <a:xfrm>
            <a:off x="1984415" y="537483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PySpark</a:t>
            </a:r>
            <a:endParaRPr lang="en-US" sz="1950" dirty="0"/>
          </a:p>
        </p:txBody>
      </p:sp>
      <p:sp>
        <p:nvSpPr>
          <p:cNvPr id="15" name="Text 8"/>
          <p:cNvSpPr/>
          <p:nvPr/>
        </p:nvSpPr>
        <p:spPr>
          <a:xfrm>
            <a:off x="1984415" y="5804059"/>
            <a:ext cx="6365796"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Distributed data processing</a:t>
            </a:r>
            <a:endParaRPr lang="en-US" sz="1550" dirty="0"/>
          </a:p>
        </p:txBody>
      </p:sp>
      <p:sp>
        <p:nvSpPr>
          <p:cNvPr id="16" name="Text 9"/>
          <p:cNvSpPr/>
          <p:nvPr/>
        </p:nvSpPr>
        <p:spPr>
          <a:xfrm>
            <a:off x="793790" y="6590467"/>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Data collected every four hours for both historical and live analysis. Total dataset: 22,548 Reddit sentiment records and 11,692 crypto price records spanning 12 months.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845231"/>
            <a:ext cx="7146965"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Data Preprocessing &amp; Cleaning</a:t>
            </a:r>
            <a:endParaRPr lang="en-US" sz="3900" dirty="0"/>
          </a:p>
        </p:txBody>
      </p:sp>
      <p:sp>
        <p:nvSpPr>
          <p:cNvPr id="3" name="Text 1"/>
          <p:cNvSpPr/>
          <p:nvPr/>
        </p:nvSpPr>
        <p:spPr>
          <a:xfrm>
            <a:off x="793790" y="2961323"/>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257B8"/>
                </a:solidFill>
                <a:latin typeface="Roboto Slab" pitchFamily="34" charset="0"/>
                <a:ea typeface="Roboto Slab" pitchFamily="34" charset="-122"/>
                <a:cs typeface="Roboto Slab" pitchFamily="34" charset="-120"/>
              </a:rPr>
              <a:t>Schema Assignment</a:t>
            </a:r>
            <a:endParaRPr lang="en-US" sz="2300" dirty="0"/>
          </a:p>
        </p:txBody>
      </p:sp>
      <p:sp>
        <p:nvSpPr>
          <p:cNvPr id="4" name="Text 2"/>
          <p:cNvSpPr/>
          <p:nvPr/>
        </p:nvSpPr>
        <p:spPr>
          <a:xfrm>
            <a:off x="744804" y="6551313"/>
            <a:ext cx="6279356" cy="1052358"/>
          </a:xfrm>
          <a:prstGeom prst="rect">
            <a:avLst/>
          </a:prstGeom>
          <a:noFill/>
          <a:ln/>
        </p:spPr>
        <p:txBody>
          <a:bodyPr wrap="square" lIns="0" tIns="0" rIns="0" bIns="0" rtlCol="0" anchor="t"/>
          <a:lstStyle/>
          <a:p>
            <a:pPr>
              <a:lnSpc>
                <a:spcPts val="2500"/>
              </a:lnSpc>
            </a:pPr>
            <a:r>
              <a:rPr lang="en-US" sz="1550" dirty="0">
                <a:solidFill>
                  <a:srgbClr val="15213F"/>
                </a:solidFill>
                <a:latin typeface="Roboto" pitchFamily="34" charset="0"/>
                <a:ea typeface="Roboto" pitchFamily="34" charset="-122"/>
                <a:cs typeface="Roboto" pitchFamily="34" charset="-120"/>
              </a:rPr>
              <a:t> </a:t>
            </a:r>
            <a:endParaRPr lang="en-US" sz="1550" dirty="0"/>
          </a:p>
        </p:txBody>
      </p:sp>
      <p:sp>
        <p:nvSpPr>
          <p:cNvPr id="5" name="Text 3"/>
          <p:cNvSpPr/>
          <p:nvPr/>
        </p:nvSpPr>
        <p:spPr>
          <a:xfrm>
            <a:off x="793790" y="4682728"/>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257B8"/>
                </a:solidFill>
                <a:latin typeface="Roboto Slab" pitchFamily="34" charset="0"/>
                <a:ea typeface="Roboto Slab" pitchFamily="34" charset="-122"/>
                <a:cs typeface="Roboto Slab" pitchFamily="34" charset="-120"/>
              </a:rPr>
              <a:t>Feature Engineering</a:t>
            </a:r>
            <a:endParaRPr lang="en-US" sz="2300" dirty="0"/>
          </a:p>
        </p:txBody>
      </p:sp>
      <p:sp>
        <p:nvSpPr>
          <p:cNvPr id="6" name="Text 4"/>
          <p:cNvSpPr/>
          <p:nvPr/>
        </p:nvSpPr>
        <p:spPr>
          <a:xfrm>
            <a:off x="793790" y="5253157"/>
            <a:ext cx="6279356" cy="2459372"/>
          </a:xfrm>
          <a:prstGeom prst="rect">
            <a:avLst/>
          </a:prstGeom>
          <a:noFill/>
          <a:ln/>
        </p:spPr>
        <p:txBody>
          <a:bodyPr wrap="square" lIns="0" tIns="0" rIns="0" bIns="0" rtlCol="0" anchor="t"/>
          <a:lstStyle/>
          <a:p>
            <a:pPr marL="285750" indent="-285750" algn="l">
              <a:lnSpc>
                <a:spcPts val="2500"/>
              </a:lnSpc>
              <a:buFont typeface="Arial" panose="020B0604020202020204" pitchFamily="34" charset="0"/>
              <a:buChar char="•"/>
            </a:pPr>
            <a:r>
              <a:rPr lang="en-US" sz="1550" dirty="0">
                <a:solidFill>
                  <a:srgbClr val="15213F"/>
                </a:solidFill>
                <a:latin typeface="Roboto" pitchFamily="34" charset="0"/>
                <a:ea typeface="Roboto" pitchFamily="34" charset="-122"/>
                <a:cs typeface="Roboto" pitchFamily="34" charset="-120"/>
              </a:rPr>
              <a:t>Applied filter transformation on sentiment score to classify data as neutral, positive, or negative</a:t>
            </a:r>
          </a:p>
          <a:p>
            <a:pPr marL="285750" indent="-285750">
              <a:lnSpc>
                <a:spcPts val="2500"/>
              </a:lnSpc>
              <a:buFont typeface="Arial" panose="020B0604020202020204" pitchFamily="34" charset="0"/>
              <a:buChar char="•"/>
            </a:pPr>
            <a:r>
              <a:rPr lang="en-US" sz="1550" dirty="0">
                <a:solidFill>
                  <a:srgbClr val="15213F"/>
                </a:solidFill>
                <a:latin typeface="Roboto" pitchFamily="34" charset="0"/>
                <a:ea typeface="Roboto" pitchFamily="34" charset="-122"/>
                <a:cs typeface="Roboto" pitchFamily="34" charset="-120"/>
              </a:rPr>
              <a:t>Renamed 'timestamp' to 'date' in Crypto-Price dataset to facilitate seamless join with Reddit-Sentiment dataset. </a:t>
            </a:r>
          </a:p>
          <a:p>
            <a:pPr marL="285750" indent="-285750">
              <a:lnSpc>
                <a:spcPts val="2500"/>
              </a:lnSpc>
              <a:buFont typeface="Arial" panose="020B0604020202020204" pitchFamily="34" charset="0"/>
              <a:buChar char="•"/>
            </a:pPr>
            <a:r>
              <a:rPr lang="en-US" sz="1550" dirty="0">
                <a:solidFill>
                  <a:srgbClr val="15213F"/>
                </a:solidFill>
                <a:latin typeface="Roboto" pitchFamily="34" charset="0"/>
                <a:ea typeface="Roboto" pitchFamily="34" charset="-122"/>
                <a:cs typeface="Roboto" pitchFamily="34" charset="-120"/>
              </a:rPr>
              <a:t>Retrieve only cryptocurrency abbreviation from ‘symbol’ field in Crypto-Price dataset and renamed it to ‘cryptocurrency’ field and removed ‘symbol’ field.</a:t>
            </a:r>
          </a:p>
          <a:p>
            <a:pPr marL="0" indent="0" algn="l">
              <a:lnSpc>
                <a:spcPts val="2500"/>
              </a:lnSpc>
              <a:buNone/>
            </a:pPr>
            <a:endParaRPr lang="en-US" sz="1550" dirty="0"/>
          </a:p>
        </p:txBody>
      </p:sp>
      <p:sp>
        <p:nvSpPr>
          <p:cNvPr id="7" name="Text 5"/>
          <p:cNvSpPr/>
          <p:nvPr/>
        </p:nvSpPr>
        <p:spPr>
          <a:xfrm>
            <a:off x="7564874" y="2961323"/>
            <a:ext cx="3119557" cy="372070"/>
          </a:xfrm>
          <a:prstGeom prst="rect">
            <a:avLst/>
          </a:prstGeom>
          <a:noFill/>
          <a:ln/>
        </p:spPr>
        <p:txBody>
          <a:bodyPr wrap="none" lIns="0" tIns="0" rIns="0" bIns="0" rtlCol="0" anchor="t"/>
          <a:lstStyle/>
          <a:p>
            <a:pPr marL="0" indent="0" algn="l">
              <a:lnSpc>
                <a:spcPts val="2900"/>
              </a:lnSpc>
              <a:buNone/>
            </a:pPr>
            <a:r>
              <a:rPr lang="en-US" sz="2300" dirty="0">
                <a:solidFill>
                  <a:srgbClr val="3257B8"/>
                </a:solidFill>
                <a:latin typeface="Roboto Slab" pitchFamily="34" charset="0"/>
                <a:ea typeface="Roboto Slab" pitchFamily="34" charset="-122"/>
                <a:cs typeface="Roboto Slab" pitchFamily="34" charset="-120"/>
              </a:rPr>
              <a:t>Data Cleaning Process</a:t>
            </a:r>
            <a:endParaRPr lang="en-US" sz="2300" dirty="0"/>
          </a:p>
        </p:txBody>
      </p:sp>
      <p:sp>
        <p:nvSpPr>
          <p:cNvPr id="8" name="Text 6"/>
          <p:cNvSpPr/>
          <p:nvPr/>
        </p:nvSpPr>
        <p:spPr>
          <a:xfrm>
            <a:off x="7564874" y="3531751"/>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Removed duplicate values (22,548 to 22,506 records)</a:t>
            </a:r>
            <a:endParaRPr lang="en-US" sz="1550" dirty="0"/>
          </a:p>
        </p:txBody>
      </p:sp>
      <p:sp>
        <p:nvSpPr>
          <p:cNvPr id="9" name="Text 7"/>
          <p:cNvSpPr/>
          <p:nvPr/>
        </p:nvSpPr>
        <p:spPr>
          <a:xfrm>
            <a:off x="7564874" y="391870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Implemented mean imputation for sentiment_score field</a:t>
            </a:r>
            <a:endParaRPr lang="en-US" sz="1550" dirty="0"/>
          </a:p>
        </p:txBody>
      </p:sp>
      <p:sp>
        <p:nvSpPr>
          <p:cNvPr id="10" name="Text 8"/>
          <p:cNvSpPr/>
          <p:nvPr/>
        </p:nvSpPr>
        <p:spPr>
          <a:xfrm>
            <a:off x="7564874" y="4305657"/>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Filled missing string values with "missing" keyword</a:t>
            </a:r>
            <a:endParaRPr lang="en-US" sz="1550" dirty="0"/>
          </a:p>
        </p:txBody>
      </p:sp>
      <p:sp>
        <p:nvSpPr>
          <p:cNvPr id="11" name="Text 9"/>
          <p:cNvSpPr/>
          <p:nvPr/>
        </p:nvSpPr>
        <p:spPr>
          <a:xfrm>
            <a:off x="7564874" y="4692610"/>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Verified no null values in critical date field</a:t>
            </a:r>
            <a:endParaRPr lang="en-US" sz="1550" dirty="0"/>
          </a:p>
        </p:txBody>
      </p:sp>
      <p:sp>
        <p:nvSpPr>
          <p:cNvPr id="12" name="Text 10"/>
          <p:cNvSpPr/>
          <p:nvPr/>
        </p:nvSpPr>
        <p:spPr>
          <a:xfrm>
            <a:off x="7564874" y="507956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Removed inessential cryptocurrency values</a:t>
            </a:r>
            <a:endParaRPr lang="en-US" sz="1550" dirty="0"/>
          </a:p>
        </p:txBody>
      </p:sp>
      <p:sp>
        <p:nvSpPr>
          <p:cNvPr id="14" name="Text 2">
            <a:extLst>
              <a:ext uri="{FF2B5EF4-FFF2-40B4-BE49-F238E27FC236}">
                <a16:creationId xmlns:a16="http://schemas.microsoft.com/office/drawing/2014/main" id="{25A50B38-4D1C-8288-6013-992CE8AA60D9}"/>
              </a:ext>
            </a:extLst>
          </p:cNvPr>
          <p:cNvSpPr/>
          <p:nvPr/>
        </p:nvSpPr>
        <p:spPr>
          <a:xfrm>
            <a:off x="946190" y="3684152"/>
            <a:ext cx="6279356" cy="386952"/>
          </a:xfrm>
          <a:prstGeom prst="rect">
            <a:avLst/>
          </a:prstGeom>
          <a:noFill/>
          <a:ln/>
        </p:spPr>
        <p:txBody>
          <a:bodyPr wrap="square" lIns="0" tIns="0" rIns="0" bIns="0" rtlCol="0" anchor="t"/>
          <a:lstStyle/>
          <a:p>
            <a:pPr>
              <a:lnSpc>
                <a:spcPts val="2500"/>
              </a:lnSpc>
            </a:pPr>
            <a:r>
              <a:rPr lang="en-US" sz="1550" dirty="0">
                <a:solidFill>
                  <a:srgbClr val="15213F"/>
                </a:solidFill>
                <a:latin typeface="Roboto" pitchFamily="34" charset="0"/>
                <a:ea typeface="Roboto" pitchFamily="34" charset="-122"/>
                <a:cs typeface="Roboto" pitchFamily="34" charset="-120"/>
              </a:rPr>
              <a:t>Assigned schemas to datasets retrieved from Azure </a:t>
            </a:r>
            <a:r>
              <a:rPr lang="en-US" sz="1550" dirty="0" err="1">
                <a:solidFill>
                  <a:srgbClr val="15213F"/>
                </a:solidFill>
                <a:latin typeface="Roboto" pitchFamily="34" charset="0"/>
                <a:ea typeface="Roboto" pitchFamily="34" charset="-122"/>
                <a:cs typeface="Roboto" pitchFamily="34" charset="-120"/>
              </a:rPr>
              <a:t>CosmosDB</a:t>
            </a:r>
            <a:r>
              <a:rPr lang="en-US" sz="1550" dirty="0">
                <a:solidFill>
                  <a:srgbClr val="15213F"/>
                </a:solidFill>
                <a:latin typeface="Roboto" pitchFamily="34" charset="0"/>
                <a:ea typeface="Roboto" pitchFamily="34" charset="-122"/>
                <a:cs typeface="Roboto" pitchFamily="34" charset="-120"/>
              </a:rPr>
              <a:t>. </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724739"/>
            <a:ext cx="8107019" cy="1240155"/>
          </a:xfrm>
          <a:prstGeom prst="rect">
            <a:avLst/>
          </a:prstGeom>
          <a:noFill/>
          <a:ln/>
        </p:spPr>
        <p:txBody>
          <a:bodyPr wrap="square" lIns="0" tIns="0" rIns="0" bIns="0" rtlCol="0" anchor="t"/>
          <a:lstStyle/>
          <a:p>
            <a:pPr marL="0" indent="0" algn="l">
              <a:lnSpc>
                <a:spcPts val="4850"/>
              </a:lnSpc>
              <a:buNone/>
            </a:pPr>
            <a:r>
              <a:rPr lang="en-US" sz="3200" dirty="0">
                <a:solidFill>
                  <a:srgbClr val="3257B8"/>
                </a:solidFill>
                <a:latin typeface="Roboto Slab" pitchFamily="34" charset="0"/>
                <a:ea typeface="Roboto Slab" pitchFamily="34" charset="-122"/>
                <a:cs typeface="Roboto Slab" pitchFamily="34" charset="-120"/>
              </a:rPr>
              <a:t>Exploratory Data Analysis: Key Insights</a:t>
            </a:r>
            <a:endParaRPr lang="en-US" sz="3200" dirty="0"/>
          </a:p>
        </p:txBody>
      </p:sp>
      <p:sp>
        <p:nvSpPr>
          <p:cNvPr id="4" name="Text 1"/>
          <p:cNvSpPr/>
          <p:nvPr/>
        </p:nvSpPr>
        <p:spPr>
          <a:xfrm>
            <a:off x="793790" y="3361730"/>
            <a:ext cx="2353389" cy="654963"/>
          </a:xfrm>
          <a:prstGeom prst="rect">
            <a:avLst/>
          </a:prstGeom>
          <a:noFill/>
          <a:ln/>
        </p:spPr>
        <p:txBody>
          <a:bodyPr wrap="none" lIns="0" tIns="0" rIns="0" bIns="0" rtlCol="0" anchor="t"/>
          <a:lstStyle/>
          <a:p>
            <a:pPr marL="0" indent="0" algn="ctr">
              <a:lnSpc>
                <a:spcPts val="5150"/>
              </a:lnSpc>
              <a:buNone/>
            </a:pPr>
            <a:r>
              <a:rPr lang="en-US" sz="5150" dirty="0">
                <a:solidFill>
                  <a:srgbClr val="15213F"/>
                </a:solidFill>
                <a:latin typeface="Roboto Slab" pitchFamily="34" charset="0"/>
                <a:ea typeface="Roboto Slab" pitchFamily="34" charset="-122"/>
                <a:cs typeface="Roboto Slab" pitchFamily="34" charset="-120"/>
              </a:rPr>
              <a:t>5</a:t>
            </a:r>
            <a:endParaRPr lang="en-US" sz="5150" dirty="0"/>
          </a:p>
        </p:txBody>
      </p:sp>
      <p:sp>
        <p:nvSpPr>
          <p:cNvPr id="5" name="Text 2"/>
          <p:cNvSpPr/>
          <p:nvPr/>
        </p:nvSpPr>
        <p:spPr>
          <a:xfrm>
            <a:off x="793790" y="4264700"/>
            <a:ext cx="2353389" cy="310158"/>
          </a:xfrm>
          <a:prstGeom prst="rect">
            <a:avLst/>
          </a:prstGeom>
          <a:noFill/>
          <a:ln/>
        </p:spPr>
        <p:txBody>
          <a:bodyPr wrap="none" lIns="0" tIns="0" rIns="0" bIns="0" rtlCol="0" anchor="t"/>
          <a:lstStyle/>
          <a:p>
            <a:pPr marL="0" indent="0" algn="ctr">
              <a:lnSpc>
                <a:spcPts val="2400"/>
              </a:lnSpc>
              <a:buNone/>
            </a:pPr>
            <a:r>
              <a:rPr lang="en-US" sz="1950" dirty="0">
                <a:solidFill>
                  <a:srgbClr val="15213F"/>
                </a:solidFill>
                <a:latin typeface="Roboto Slab" pitchFamily="34" charset="0"/>
                <a:ea typeface="Roboto Slab" pitchFamily="34" charset="-122"/>
                <a:cs typeface="Roboto Slab" pitchFamily="34" charset="-120"/>
              </a:rPr>
              <a:t>Cryptocurrencies</a:t>
            </a:r>
            <a:endParaRPr lang="en-US" sz="1950" dirty="0"/>
          </a:p>
        </p:txBody>
      </p:sp>
      <p:sp>
        <p:nvSpPr>
          <p:cNvPr id="6" name="Text 3"/>
          <p:cNvSpPr/>
          <p:nvPr/>
        </p:nvSpPr>
        <p:spPr>
          <a:xfrm>
            <a:off x="793790" y="4693920"/>
            <a:ext cx="2353389" cy="635079"/>
          </a:xfrm>
          <a:prstGeom prst="rect">
            <a:avLst/>
          </a:prstGeom>
          <a:noFill/>
          <a:ln/>
        </p:spPr>
        <p:txBody>
          <a:bodyPr wrap="square" lIns="0" tIns="0" rIns="0" bIns="0" rtlCol="0" anchor="t"/>
          <a:lstStyle/>
          <a:p>
            <a:pPr marL="0" indent="0" algn="ctr">
              <a:lnSpc>
                <a:spcPts val="2500"/>
              </a:lnSpc>
              <a:buNone/>
            </a:pPr>
            <a:r>
              <a:rPr lang="en-US" sz="1550" dirty="0">
                <a:solidFill>
                  <a:srgbClr val="15213F"/>
                </a:solidFill>
                <a:latin typeface="Roboto" pitchFamily="34" charset="0"/>
                <a:ea typeface="Roboto" pitchFamily="34" charset="-122"/>
                <a:cs typeface="Roboto" pitchFamily="34" charset="-120"/>
              </a:rPr>
              <a:t>BTC, ETH, ADA, SOL, DOGE analyzed</a:t>
            </a:r>
            <a:endParaRPr lang="en-US" sz="1550" dirty="0"/>
          </a:p>
        </p:txBody>
      </p:sp>
      <p:sp>
        <p:nvSpPr>
          <p:cNvPr id="7" name="Text 4"/>
          <p:cNvSpPr/>
          <p:nvPr/>
        </p:nvSpPr>
        <p:spPr>
          <a:xfrm>
            <a:off x="3395186" y="3361730"/>
            <a:ext cx="2353508" cy="654963"/>
          </a:xfrm>
          <a:prstGeom prst="rect">
            <a:avLst/>
          </a:prstGeom>
          <a:noFill/>
          <a:ln/>
        </p:spPr>
        <p:txBody>
          <a:bodyPr wrap="none" lIns="0" tIns="0" rIns="0" bIns="0" rtlCol="0" anchor="t"/>
          <a:lstStyle/>
          <a:p>
            <a:pPr marL="0" indent="0" algn="ctr">
              <a:lnSpc>
                <a:spcPts val="5150"/>
              </a:lnSpc>
              <a:buNone/>
            </a:pPr>
            <a:r>
              <a:rPr lang="en-US" sz="5150" dirty="0">
                <a:solidFill>
                  <a:srgbClr val="15213F"/>
                </a:solidFill>
                <a:latin typeface="Roboto Slab" pitchFamily="34" charset="0"/>
                <a:ea typeface="Roboto Slab" pitchFamily="34" charset="-122"/>
                <a:cs typeface="Roboto Slab" pitchFamily="34" charset="-120"/>
              </a:rPr>
              <a:t>22K</a:t>
            </a:r>
            <a:endParaRPr lang="en-US" sz="5150" dirty="0"/>
          </a:p>
        </p:txBody>
      </p:sp>
      <p:sp>
        <p:nvSpPr>
          <p:cNvPr id="8" name="Text 5"/>
          <p:cNvSpPr/>
          <p:nvPr/>
        </p:nvSpPr>
        <p:spPr>
          <a:xfrm>
            <a:off x="3395186" y="4264700"/>
            <a:ext cx="2353508" cy="310158"/>
          </a:xfrm>
          <a:prstGeom prst="rect">
            <a:avLst/>
          </a:prstGeom>
          <a:noFill/>
          <a:ln/>
        </p:spPr>
        <p:txBody>
          <a:bodyPr wrap="none" lIns="0" tIns="0" rIns="0" bIns="0" rtlCol="0" anchor="t"/>
          <a:lstStyle/>
          <a:p>
            <a:pPr marL="0" indent="0" algn="ctr">
              <a:lnSpc>
                <a:spcPts val="2400"/>
              </a:lnSpc>
              <a:buNone/>
            </a:pPr>
            <a:r>
              <a:rPr lang="en-US" sz="1950" dirty="0">
                <a:solidFill>
                  <a:srgbClr val="15213F"/>
                </a:solidFill>
                <a:latin typeface="Roboto Slab" pitchFamily="34" charset="0"/>
                <a:ea typeface="Roboto Slab" pitchFamily="34" charset="-122"/>
                <a:cs typeface="Roboto Slab" pitchFamily="34" charset="-120"/>
              </a:rPr>
              <a:t>Sentiment Records</a:t>
            </a:r>
            <a:endParaRPr lang="en-US" sz="1950" dirty="0"/>
          </a:p>
        </p:txBody>
      </p:sp>
      <p:sp>
        <p:nvSpPr>
          <p:cNvPr id="9" name="Text 6"/>
          <p:cNvSpPr/>
          <p:nvPr/>
        </p:nvSpPr>
        <p:spPr>
          <a:xfrm>
            <a:off x="3395186" y="4693920"/>
            <a:ext cx="2353508" cy="635079"/>
          </a:xfrm>
          <a:prstGeom prst="rect">
            <a:avLst/>
          </a:prstGeom>
          <a:noFill/>
          <a:ln/>
        </p:spPr>
        <p:txBody>
          <a:bodyPr wrap="square" lIns="0" tIns="0" rIns="0" bIns="0" rtlCol="0" anchor="t"/>
          <a:lstStyle/>
          <a:p>
            <a:pPr marL="0" indent="0" algn="ctr">
              <a:lnSpc>
                <a:spcPts val="2500"/>
              </a:lnSpc>
              <a:buNone/>
            </a:pPr>
            <a:r>
              <a:rPr lang="en-US" sz="1550" dirty="0">
                <a:solidFill>
                  <a:srgbClr val="15213F"/>
                </a:solidFill>
                <a:latin typeface="Roboto" pitchFamily="34" charset="0"/>
                <a:ea typeface="Roboto" pitchFamily="34" charset="-122"/>
                <a:cs typeface="Roboto" pitchFamily="34" charset="-120"/>
              </a:rPr>
              <a:t>Total Reddit posts and comments</a:t>
            </a:r>
            <a:endParaRPr lang="en-US" sz="1550" dirty="0"/>
          </a:p>
        </p:txBody>
      </p:sp>
      <p:sp>
        <p:nvSpPr>
          <p:cNvPr id="10" name="Text 7"/>
          <p:cNvSpPr/>
          <p:nvPr/>
        </p:nvSpPr>
        <p:spPr>
          <a:xfrm>
            <a:off x="5996702" y="3361730"/>
            <a:ext cx="2353389" cy="654963"/>
          </a:xfrm>
          <a:prstGeom prst="rect">
            <a:avLst/>
          </a:prstGeom>
          <a:noFill/>
          <a:ln/>
        </p:spPr>
        <p:txBody>
          <a:bodyPr wrap="none" lIns="0" tIns="0" rIns="0" bIns="0" rtlCol="0" anchor="t"/>
          <a:lstStyle/>
          <a:p>
            <a:pPr marL="0" indent="0" algn="ctr">
              <a:lnSpc>
                <a:spcPts val="5150"/>
              </a:lnSpc>
              <a:buNone/>
            </a:pPr>
            <a:r>
              <a:rPr lang="en-US" sz="5150" dirty="0">
                <a:solidFill>
                  <a:srgbClr val="15213F"/>
                </a:solidFill>
                <a:latin typeface="Roboto Slab" pitchFamily="34" charset="0"/>
                <a:ea typeface="Roboto Slab" pitchFamily="34" charset="-122"/>
                <a:cs typeface="Roboto Slab" pitchFamily="34" charset="-120"/>
              </a:rPr>
              <a:t>12</a:t>
            </a:r>
            <a:endParaRPr lang="en-US" sz="5150" dirty="0"/>
          </a:p>
        </p:txBody>
      </p:sp>
      <p:sp>
        <p:nvSpPr>
          <p:cNvPr id="11" name="Text 8"/>
          <p:cNvSpPr/>
          <p:nvPr/>
        </p:nvSpPr>
        <p:spPr>
          <a:xfrm>
            <a:off x="5996702" y="4264700"/>
            <a:ext cx="2353389" cy="310158"/>
          </a:xfrm>
          <a:prstGeom prst="rect">
            <a:avLst/>
          </a:prstGeom>
          <a:noFill/>
          <a:ln/>
        </p:spPr>
        <p:txBody>
          <a:bodyPr wrap="none" lIns="0" tIns="0" rIns="0" bIns="0" rtlCol="0" anchor="t"/>
          <a:lstStyle/>
          <a:p>
            <a:pPr marL="0" indent="0" algn="ctr">
              <a:lnSpc>
                <a:spcPts val="2400"/>
              </a:lnSpc>
              <a:buNone/>
            </a:pPr>
            <a:r>
              <a:rPr lang="en-US" sz="1950" dirty="0">
                <a:solidFill>
                  <a:srgbClr val="15213F"/>
                </a:solidFill>
                <a:latin typeface="Roboto Slab" pitchFamily="34" charset="0"/>
                <a:ea typeface="Roboto Slab" pitchFamily="34" charset="-122"/>
                <a:cs typeface="Roboto Slab" pitchFamily="34" charset="-120"/>
              </a:rPr>
              <a:t>Months</a:t>
            </a:r>
            <a:endParaRPr lang="en-US" sz="1950" dirty="0"/>
          </a:p>
        </p:txBody>
      </p:sp>
      <p:sp>
        <p:nvSpPr>
          <p:cNvPr id="12" name="Text 9"/>
          <p:cNvSpPr/>
          <p:nvPr/>
        </p:nvSpPr>
        <p:spPr>
          <a:xfrm>
            <a:off x="5996702" y="4693920"/>
            <a:ext cx="2353389" cy="317540"/>
          </a:xfrm>
          <a:prstGeom prst="rect">
            <a:avLst/>
          </a:prstGeom>
          <a:noFill/>
          <a:ln/>
        </p:spPr>
        <p:txBody>
          <a:bodyPr wrap="none" lIns="0" tIns="0" rIns="0" bIns="0" rtlCol="0" anchor="t"/>
          <a:lstStyle/>
          <a:p>
            <a:pPr marL="0" indent="0" algn="ctr">
              <a:lnSpc>
                <a:spcPts val="2500"/>
              </a:lnSpc>
              <a:buNone/>
            </a:pPr>
            <a:r>
              <a:rPr lang="en-US" sz="1550" dirty="0">
                <a:solidFill>
                  <a:srgbClr val="15213F"/>
                </a:solidFill>
                <a:latin typeface="Roboto" pitchFamily="34" charset="0"/>
                <a:ea typeface="Roboto" pitchFamily="34" charset="-122"/>
                <a:cs typeface="Roboto" pitchFamily="34" charset="-120"/>
              </a:rPr>
              <a:t>Data collection period</a:t>
            </a:r>
            <a:endParaRPr lang="en-US" sz="1550" dirty="0"/>
          </a:p>
        </p:txBody>
      </p:sp>
      <p:sp>
        <p:nvSpPr>
          <p:cNvPr id="13" name="Text 10"/>
          <p:cNvSpPr/>
          <p:nvPr/>
        </p:nvSpPr>
        <p:spPr>
          <a:xfrm>
            <a:off x="793790" y="5552242"/>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Distribution analysis revealed highest number of positive sentiments overall. SOL had most negative reviews, while ETH and DOGE had most positive reviews. Dataset contains mildly negative, neutral, and positive sentiment ranging from -0.5 to 0.25.</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683B8-C4D4-DB1E-F34E-D7504637B3A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98E812E0-CA3D-4E06-371D-2D7BDE1A9D9A}"/>
              </a:ext>
            </a:extLst>
          </p:cNvPr>
          <p:cNvSpPr/>
          <p:nvPr/>
        </p:nvSpPr>
        <p:spPr>
          <a:xfrm>
            <a:off x="744804" y="1646872"/>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257B8"/>
                </a:solidFill>
                <a:latin typeface="Roboto Slab" pitchFamily="34" charset="0"/>
                <a:ea typeface="Roboto Slab" pitchFamily="34" charset="-122"/>
                <a:cs typeface="Roboto Slab" pitchFamily="34" charset="-120"/>
              </a:rPr>
              <a:t>Distribution Analysis</a:t>
            </a:r>
            <a:endParaRPr lang="en-US" sz="2300" dirty="0"/>
          </a:p>
        </p:txBody>
      </p:sp>
      <p:sp>
        <p:nvSpPr>
          <p:cNvPr id="4" name="Text 2">
            <a:extLst>
              <a:ext uri="{FF2B5EF4-FFF2-40B4-BE49-F238E27FC236}">
                <a16:creationId xmlns:a16="http://schemas.microsoft.com/office/drawing/2014/main" id="{86E3682F-8417-4B3D-4C82-3A3DB0A9B577}"/>
              </a:ext>
            </a:extLst>
          </p:cNvPr>
          <p:cNvSpPr/>
          <p:nvPr/>
        </p:nvSpPr>
        <p:spPr>
          <a:xfrm>
            <a:off x="744804" y="6551313"/>
            <a:ext cx="6279356" cy="1052358"/>
          </a:xfrm>
          <a:prstGeom prst="rect">
            <a:avLst/>
          </a:prstGeom>
          <a:noFill/>
          <a:ln/>
        </p:spPr>
        <p:txBody>
          <a:bodyPr wrap="square" lIns="0" tIns="0" rIns="0" bIns="0" rtlCol="0" anchor="t"/>
          <a:lstStyle/>
          <a:p>
            <a:pPr>
              <a:lnSpc>
                <a:spcPts val="2500"/>
              </a:lnSpc>
            </a:pPr>
            <a:r>
              <a:rPr lang="en-US" sz="1550" dirty="0">
                <a:solidFill>
                  <a:srgbClr val="15213F"/>
                </a:solidFill>
                <a:latin typeface="Roboto" pitchFamily="34" charset="0"/>
                <a:ea typeface="Roboto" pitchFamily="34" charset="-122"/>
                <a:cs typeface="Roboto" pitchFamily="34" charset="-120"/>
              </a:rPr>
              <a:t> </a:t>
            </a:r>
            <a:endParaRPr lang="en-US" sz="1550" dirty="0"/>
          </a:p>
        </p:txBody>
      </p:sp>
      <p:sp>
        <p:nvSpPr>
          <p:cNvPr id="7" name="Text 5">
            <a:extLst>
              <a:ext uri="{FF2B5EF4-FFF2-40B4-BE49-F238E27FC236}">
                <a16:creationId xmlns:a16="http://schemas.microsoft.com/office/drawing/2014/main" id="{209E1E94-E0CA-F0DE-20B9-EB0F99581695}"/>
              </a:ext>
            </a:extLst>
          </p:cNvPr>
          <p:cNvSpPr/>
          <p:nvPr/>
        </p:nvSpPr>
        <p:spPr>
          <a:xfrm>
            <a:off x="7564874" y="1646872"/>
            <a:ext cx="3119557" cy="372070"/>
          </a:xfrm>
          <a:prstGeom prst="rect">
            <a:avLst/>
          </a:prstGeom>
          <a:noFill/>
          <a:ln/>
        </p:spPr>
        <p:txBody>
          <a:bodyPr wrap="none" lIns="0" tIns="0" rIns="0" bIns="0" rtlCol="0" anchor="t"/>
          <a:lstStyle/>
          <a:p>
            <a:pPr marL="0" indent="0" algn="l">
              <a:lnSpc>
                <a:spcPts val="2900"/>
              </a:lnSpc>
              <a:buNone/>
            </a:pPr>
            <a:r>
              <a:rPr lang="en-US" sz="2300" dirty="0">
                <a:solidFill>
                  <a:srgbClr val="3257B8"/>
                </a:solidFill>
                <a:latin typeface="Roboto Slab" pitchFamily="34" charset="0"/>
                <a:ea typeface="Roboto Slab" pitchFamily="34" charset="-122"/>
                <a:cs typeface="Roboto Slab" pitchFamily="34" charset="-120"/>
              </a:rPr>
              <a:t>Sentiment Distribution By Cryptocurrency</a:t>
            </a:r>
            <a:endParaRPr lang="en-US" sz="2300" dirty="0"/>
          </a:p>
        </p:txBody>
      </p:sp>
      <p:sp>
        <p:nvSpPr>
          <p:cNvPr id="13" name="Text 0">
            <a:extLst>
              <a:ext uri="{FF2B5EF4-FFF2-40B4-BE49-F238E27FC236}">
                <a16:creationId xmlns:a16="http://schemas.microsoft.com/office/drawing/2014/main" id="{F03ACF04-E892-6CDA-FF89-D8BA0EE980C0}"/>
              </a:ext>
            </a:extLst>
          </p:cNvPr>
          <p:cNvSpPr/>
          <p:nvPr/>
        </p:nvSpPr>
        <p:spPr>
          <a:xfrm>
            <a:off x="668604" y="695129"/>
            <a:ext cx="8107019" cy="844290"/>
          </a:xfrm>
          <a:prstGeom prst="rect">
            <a:avLst/>
          </a:prstGeom>
          <a:noFill/>
          <a:ln/>
        </p:spPr>
        <p:txBody>
          <a:bodyPr wrap="square" lIns="0" tIns="0" rIns="0" bIns="0" rtlCol="0" anchor="t"/>
          <a:lstStyle/>
          <a:p>
            <a:pPr marL="0" indent="0" algn="l">
              <a:lnSpc>
                <a:spcPts val="4850"/>
              </a:lnSpc>
              <a:buNone/>
            </a:pPr>
            <a:r>
              <a:rPr lang="en-US" sz="3200" dirty="0">
                <a:solidFill>
                  <a:srgbClr val="3257B8"/>
                </a:solidFill>
                <a:latin typeface="Roboto Slab" pitchFamily="34" charset="0"/>
                <a:ea typeface="Roboto Slab" pitchFamily="34" charset="-122"/>
                <a:cs typeface="Roboto Slab" pitchFamily="34" charset="-120"/>
              </a:rPr>
              <a:t>Exploratory Data Analysis: Key Insights</a:t>
            </a:r>
            <a:endParaRPr lang="en-US" sz="3200" dirty="0"/>
          </a:p>
        </p:txBody>
      </p:sp>
      <p:pic>
        <p:nvPicPr>
          <p:cNvPr id="16" name="Picture 15">
            <a:extLst>
              <a:ext uri="{FF2B5EF4-FFF2-40B4-BE49-F238E27FC236}">
                <a16:creationId xmlns:a16="http://schemas.microsoft.com/office/drawing/2014/main" id="{AC9E158A-D6C3-FEF4-E15D-0FF74D01B72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3617" y="2245651"/>
            <a:ext cx="5742369" cy="2271920"/>
          </a:xfrm>
          <a:prstGeom prst="rect">
            <a:avLst/>
          </a:prstGeom>
          <a:noFill/>
          <a:ln>
            <a:noFill/>
          </a:ln>
        </p:spPr>
      </p:pic>
      <p:sp>
        <p:nvSpPr>
          <p:cNvPr id="17" name="Text 1">
            <a:extLst>
              <a:ext uri="{FF2B5EF4-FFF2-40B4-BE49-F238E27FC236}">
                <a16:creationId xmlns:a16="http://schemas.microsoft.com/office/drawing/2014/main" id="{D6565644-D33B-6F96-2803-FA1D1F648AA0}"/>
              </a:ext>
            </a:extLst>
          </p:cNvPr>
          <p:cNvSpPr/>
          <p:nvPr/>
        </p:nvSpPr>
        <p:spPr>
          <a:xfrm>
            <a:off x="879804" y="4893528"/>
            <a:ext cx="4818867" cy="372070"/>
          </a:xfrm>
          <a:prstGeom prst="rect">
            <a:avLst/>
          </a:prstGeom>
          <a:noFill/>
          <a:ln/>
        </p:spPr>
        <p:txBody>
          <a:bodyPr wrap="none" lIns="0" tIns="0" rIns="0" bIns="0" rtlCol="0" anchor="t"/>
          <a:lstStyle/>
          <a:p>
            <a:pPr marL="0" indent="0" algn="l">
              <a:lnSpc>
                <a:spcPts val="2900"/>
              </a:lnSpc>
              <a:buNone/>
            </a:pPr>
            <a:r>
              <a:rPr lang="en-US" sz="2300" dirty="0">
                <a:solidFill>
                  <a:srgbClr val="3257B8"/>
                </a:solidFill>
                <a:latin typeface="Roboto Slab" pitchFamily="34" charset="0"/>
                <a:ea typeface="Roboto Slab" pitchFamily="34" charset="-122"/>
                <a:cs typeface="Roboto Slab" pitchFamily="34" charset="-120"/>
              </a:rPr>
              <a:t>Total reviews by Cryptocurrency</a:t>
            </a:r>
            <a:endParaRPr lang="en-US" sz="2300" dirty="0"/>
          </a:p>
        </p:txBody>
      </p:sp>
      <p:pic>
        <p:nvPicPr>
          <p:cNvPr id="18" name="Picture 17">
            <a:extLst>
              <a:ext uri="{FF2B5EF4-FFF2-40B4-BE49-F238E27FC236}">
                <a16:creationId xmlns:a16="http://schemas.microsoft.com/office/drawing/2014/main" id="{540A016A-6A22-F5A9-EAF7-65BA7B70DD0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9804" y="5641554"/>
            <a:ext cx="5749596" cy="2230125"/>
          </a:xfrm>
          <a:prstGeom prst="rect">
            <a:avLst/>
          </a:prstGeom>
          <a:noFill/>
          <a:ln>
            <a:noFill/>
          </a:ln>
        </p:spPr>
      </p:pic>
      <p:pic>
        <p:nvPicPr>
          <p:cNvPr id="19" name="Picture 18" descr="A diagram of a graph&#10;&#10;AI-generated content may be incorrect.">
            <a:extLst>
              <a:ext uri="{FF2B5EF4-FFF2-40B4-BE49-F238E27FC236}">
                <a16:creationId xmlns:a16="http://schemas.microsoft.com/office/drawing/2014/main" id="{0F364BF8-226F-A02A-DD5A-AC5B0977559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13171" y="2245651"/>
            <a:ext cx="6955972" cy="2647878"/>
          </a:xfrm>
          <a:prstGeom prst="rect">
            <a:avLst/>
          </a:prstGeom>
          <a:noFill/>
          <a:ln>
            <a:noFill/>
          </a:ln>
        </p:spPr>
      </p:pic>
      <p:pic>
        <p:nvPicPr>
          <p:cNvPr id="20" name="Picture 19">
            <a:extLst>
              <a:ext uri="{FF2B5EF4-FFF2-40B4-BE49-F238E27FC236}">
                <a16:creationId xmlns:a16="http://schemas.microsoft.com/office/drawing/2014/main" id="{A8E082CF-61DC-989F-ECC3-C6B7A0A866B6}"/>
              </a:ext>
            </a:extLst>
          </p:cNvPr>
          <p:cNvPicPr>
            <a:picLocks noChangeAspect="1"/>
          </p:cNvPicPr>
          <p:nvPr/>
        </p:nvPicPr>
        <p:blipFill>
          <a:blip r:embed="rId6"/>
          <a:stretch>
            <a:fillRect/>
          </a:stretch>
        </p:blipFill>
        <p:spPr>
          <a:xfrm>
            <a:off x="7606242" y="5641554"/>
            <a:ext cx="6833658" cy="2087303"/>
          </a:xfrm>
          <a:prstGeom prst="rect">
            <a:avLst/>
          </a:prstGeom>
        </p:spPr>
      </p:pic>
      <p:sp>
        <p:nvSpPr>
          <p:cNvPr id="21" name="Text 1">
            <a:extLst>
              <a:ext uri="{FF2B5EF4-FFF2-40B4-BE49-F238E27FC236}">
                <a16:creationId xmlns:a16="http://schemas.microsoft.com/office/drawing/2014/main" id="{0671269F-E260-FD59-29E2-4D442C7D0E8F}"/>
              </a:ext>
            </a:extLst>
          </p:cNvPr>
          <p:cNvSpPr/>
          <p:nvPr/>
        </p:nvSpPr>
        <p:spPr>
          <a:xfrm>
            <a:off x="7894774" y="5079563"/>
            <a:ext cx="4297226" cy="372070"/>
          </a:xfrm>
          <a:prstGeom prst="rect">
            <a:avLst/>
          </a:prstGeom>
          <a:noFill/>
          <a:ln/>
        </p:spPr>
        <p:txBody>
          <a:bodyPr wrap="none" lIns="0" tIns="0" rIns="0" bIns="0" rtlCol="0" anchor="t"/>
          <a:lstStyle/>
          <a:p>
            <a:pPr marL="0" indent="0" algn="l">
              <a:lnSpc>
                <a:spcPts val="2900"/>
              </a:lnSpc>
              <a:buNone/>
            </a:pPr>
            <a:r>
              <a:rPr lang="en-US" sz="2300" dirty="0">
                <a:solidFill>
                  <a:srgbClr val="3257B8"/>
                </a:solidFill>
                <a:latin typeface="Roboto Slab" pitchFamily="34" charset="0"/>
                <a:ea typeface="Roboto Slab" pitchFamily="34" charset="-122"/>
                <a:cs typeface="Roboto Slab" pitchFamily="34" charset="-120"/>
              </a:rPr>
              <a:t>Cryptocurrency Count Analysis</a:t>
            </a:r>
            <a:endParaRPr lang="en-US" sz="2300" dirty="0"/>
          </a:p>
        </p:txBody>
      </p:sp>
    </p:spTree>
    <p:extLst>
      <p:ext uri="{BB962C8B-B14F-4D97-AF65-F5344CB8AC3E}">
        <p14:creationId xmlns:p14="http://schemas.microsoft.com/office/powerpoint/2010/main" val="3464654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694611"/>
            <a:ext cx="7750493"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Time Series Analysis: Sentiment vs. Price</a:t>
            </a:r>
          </a:p>
        </p:txBody>
      </p:sp>
      <p:sp>
        <p:nvSpPr>
          <p:cNvPr id="3" name="Text 1"/>
          <p:cNvSpPr/>
          <p:nvPr/>
        </p:nvSpPr>
        <p:spPr>
          <a:xfrm>
            <a:off x="793790" y="1587579"/>
            <a:ext cx="2381607" cy="297656"/>
          </a:xfrm>
          <a:prstGeom prst="rect">
            <a:avLst/>
          </a:prstGeom>
          <a:noFill/>
          <a:ln/>
        </p:spPr>
        <p:txBody>
          <a:bodyPr wrap="none" lIns="0" tIns="0" rIns="0" bIns="0" rtlCol="0" anchor="t"/>
          <a:lstStyle/>
          <a:p>
            <a:pPr marL="0" indent="0" algn="l">
              <a:lnSpc>
                <a:spcPts val="2300"/>
              </a:lnSpc>
              <a:buNone/>
            </a:pPr>
            <a:r>
              <a:rPr lang="en-US" sz="1850" dirty="0">
                <a:solidFill>
                  <a:srgbClr val="3257B8"/>
                </a:solidFill>
                <a:latin typeface="Roboto Slab" pitchFamily="34" charset="0"/>
                <a:ea typeface="Roboto Slab" pitchFamily="34" charset="-122"/>
                <a:cs typeface="Roboto Slab" pitchFamily="34" charset="-120"/>
              </a:rPr>
              <a:t>Key Findings</a:t>
            </a:r>
            <a:endParaRPr lang="en-US" sz="1850" dirty="0"/>
          </a:p>
        </p:txBody>
      </p:sp>
      <p:sp>
        <p:nvSpPr>
          <p:cNvPr id="4" name="Text 2"/>
          <p:cNvSpPr/>
          <p:nvPr/>
        </p:nvSpPr>
        <p:spPr>
          <a:xfrm>
            <a:off x="793790" y="2043946"/>
            <a:ext cx="6327815" cy="762238"/>
          </a:xfrm>
          <a:prstGeom prst="rect">
            <a:avLst/>
          </a:prstGeom>
          <a:noFill/>
          <a:ln/>
        </p:spPr>
        <p:txBody>
          <a:bodyPr wrap="square" lIns="0" tIns="0" rIns="0" bIns="0" rtlCol="0" anchor="t"/>
          <a:lstStyle/>
          <a:p>
            <a:pPr marL="0" indent="0" algn="l">
              <a:lnSpc>
                <a:spcPts val="2000"/>
              </a:lnSpc>
              <a:buNone/>
            </a:pPr>
            <a:r>
              <a:rPr lang="en-US" sz="1250" b="1" dirty="0">
                <a:solidFill>
                  <a:srgbClr val="15213F"/>
                </a:solidFill>
                <a:latin typeface="Roboto" pitchFamily="34" charset="0"/>
                <a:ea typeface="Roboto" pitchFamily="34" charset="-122"/>
                <a:cs typeface="Roboto" pitchFamily="34" charset="-120"/>
              </a:rPr>
              <a:t>Previous Day Sentiment:</a:t>
            </a:r>
            <a:r>
              <a:rPr lang="en-US" sz="1250" dirty="0">
                <a:solidFill>
                  <a:srgbClr val="15213F"/>
                </a:solidFill>
                <a:latin typeface="Roboto" pitchFamily="34" charset="0"/>
                <a:ea typeface="Roboto" pitchFamily="34" charset="-122"/>
                <a:cs typeface="Roboto" pitchFamily="34" charset="-120"/>
              </a:rPr>
              <a:t> Lagged sentiment (previous day's sentiment) exhibits a stronger correlation with cryptocurrency price fluctuations compared to concurrent (current day) sentiment.</a:t>
            </a:r>
            <a:endParaRPr lang="en-US" sz="1250" dirty="0"/>
          </a:p>
        </p:txBody>
      </p:sp>
      <p:sp>
        <p:nvSpPr>
          <p:cNvPr id="5" name="Text 3"/>
          <p:cNvSpPr/>
          <p:nvPr/>
        </p:nvSpPr>
        <p:spPr>
          <a:xfrm>
            <a:off x="793790" y="2949059"/>
            <a:ext cx="6327815" cy="508159"/>
          </a:xfrm>
          <a:prstGeom prst="rect">
            <a:avLst/>
          </a:prstGeom>
          <a:noFill/>
          <a:ln/>
        </p:spPr>
        <p:txBody>
          <a:bodyPr wrap="square" lIns="0" tIns="0" rIns="0" bIns="0" rtlCol="0" anchor="t"/>
          <a:lstStyle/>
          <a:p>
            <a:pPr marL="0" indent="0" algn="l">
              <a:lnSpc>
                <a:spcPts val="2000"/>
              </a:lnSpc>
              <a:buNone/>
            </a:pPr>
            <a:r>
              <a:rPr lang="en-US" sz="1250" b="1" dirty="0">
                <a:solidFill>
                  <a:srgbClr val="15213F"/>
                </a:solidFill>
                <a:latin typeface="Roboto" pitchFamily="34" charset="0"/>
                <a:ea typeface="Roboto" pitchFamily="34" charset="-122"/>
                <a:cs typeface="Roboto" pitchFamily="34" charset="-120"/>
              </a:rPr>
              <a:t>Next Day Sentiment:</a:t>
            </a:r>
            <a:r>
              <a:rPr lang="en-US" sz="1250" dirty="0">
                <a:solidFill>
                  <a:srgbClr val="15213F"/>
                </a:solidFill>
                <a:latin typeface="Roboto" pitchFamily="34" charset="0"/>
                <a:ea typeface="Roboto" pitchFamily="34" charset="-122"/>
                <a:cs typeface="Roboto" pitchFamily="34" charset="-120"/>
              </a:rPr>
              <a:t> Next day's sentiment also exhibits correlation with cryptocurrency price, though the relationship is less direct.</a:t>
            </a:r>
            <a:endParaRPr lang="en-US" sz="1250" dirty="0"/>
          </a:p>
        </p:txBody>
      </p:sp>
      <p:sp>
        <p:nvSpPr>
          <p:cNvPr id="6" name="Text 4"/>
          <p:cNvSpPr/>
          <p:nvPr/>
        </p:nvSpPr>
        <p:spPr>
          <a:xfrm>
            <a:off x="793790" y="3600093"/>
            <a:ext cx="6327815" cy="508159"/>
          </a:xfrm>
          <a:prstGeom prst="rect">
            <a:avLst/>
          </a:prstGeom>
          <a:noFill/>
          <a:ln/>
        </p:spPr>
        <p:txBody>
          <a:bodyPr wrap="square" lIns="0" tIns="0" rIns="0" bIns="0" rtlCol="0" anchor="t"/>
          <a:lstStyle/>
          <a:p>
            <a:pPr marL="0" indent="0" algn="l">
              <a:lnSpc>
                <a:spcPts val="2000"/>
              </a:lnSpc>
              <a:buNone/>
            </a:pPr>
            <a:r>
              <a:rPr lang="en-US" sz="1250" b="1" dirty="0">
                <a:solidFill>
                  <a:srgbClr val="15213F"/>
                </a:solidFill>
                <a:latin typeface="Roboto" pitchFamily="34" charset="0"/>
                <a:ea typeface="Roboto" pitchFamily="34" charset="-122"/>
                <a:cs typeface="Roboto" pitchFamily="34" charset="-120"/>
              </a:rPr>
              <a:t>Current Day:</a:t>
            </a:r>
            <a:r>
              <a:rPr lang="en-US" sz="1250" dirty="0">
                <a:solidFill>
                  <a:srgbClr val="15213F"/>
                </a:solidFill>
                <a:latin typeface="Roboto" pitchFamily="34" charset="0"/>
                <a:ea typeface="Roboto" pitchFamily="34" charset="-122"/>
                <a:cs typeface="Roboto" pitchFamily="34" charset="-120"/>
              </a:rPr>
              <a:t> No immediate, strong, and consistent visual correlation where sharp drops in sentiment directly precede sharp drops in price.</a:t>
            </a:r>
            <a:endParaRPr lang="en-US" sz="1250" dirty="0"/>
          </a:p>
        </p:txBody>
      </p:sp>
      <p:sp>
        <p:nvSpPr>
          <p:cNvPr id="8" name="Text 5"/>
          <p:cNvSpPr/>
          <p:nvPr/>
        </p:nvSpPr>
        <p:spPr>
          <a:xfrm>
            <a:off x="793790" y="7026831"/>
            <a:ext cx="13042821" cy="508159"/>
          </a:xfrm>
          <a:prstGeom prst="rect">
            <a:avLst/>
          </a:prstGeom>
          <a:noFill/>
          <a:ln/>
        </p:spPr>
        <p:txBody>
          <a:bodyPr wrap="squar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Analysis period: November 1, 2024 to December 4, 2025. The sentiment line often leads or moves independently of the price line, reinforcing the need for rigorous correlation analysis using lagged sentiment.</a:t>
            </a:r>
            <a:endParaRPr lang="en-US" sz="1250" dirty="0"/>
          </a:p>
        </p:txBody>
      </p:sp>
      <p:pic>
        <p:nvPicPr>
          <p:cNvPr id="9" name="Picture 8">
            <a:extLst>
              <a:ext uri="{FF2B5EF4-FFF2-40B4-BE49-F238E27FC236}">
                <a16:creationId xmlns:a16="http://schemas.microsoft.com/office/drawing/2014/main" id="{B4C8A52F-5B9E-A49E-CE3B-26CDB49ACDD6}"/>
              </a:ext>
            </a:extLst>
          </p:cNvPr>
          <p:cNvPicPr>
            <a:picLocks noChangeAspect="1"/>
          </p:cNvPicPr>
          <p:nvPr/>
        </p:nvPicPr>
        <p:blipFill>
          <a:blip r:embed="rId3"/>
          <a:stretch>
            <a:fillRect/>
          </a:stretch>
        </p:blipFill>
        <p:spPr>
          <a:xfrm>
            <a:off x="7323199" y="1407889"/>
            <a:ext cx="4742101" cy="2700363"/>
          </a:xfrm>
          <a:prstGeom prst="rect">
            <a:avLst/>
          </a:prstGeom>
        </p:spPr>
      </p:pic>
      <p:pic>
        <p:nvPicPr>
          <p:cNvPr id="10" name="Picture 9" descr="A graph of different colored lines&#10;&#10;AI-generated content may be incorrect.">
            <a:extLst>
              <a:ext uri="{FF2B5EF4-FFF2-40B4-BE49-F238E27FC236}">
                <a16:creationId xmlns:a16="http://schemas.microsoft.com/office/drawing/2014/main" id="{85C54F32-3DC7-16CF-529F-9D191BF15DA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17898" y="4164128"/>
            <a:ext cx="4436846" cy="272741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DDB5F-DC0E-1D44-837A-22AF2B02BE7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6BCA09D-AA49-A226-43A7-0492C32EAC1F}"/>
              </a:ext>
            </a:extLst>
          </p:cNvPr>
          <p:cNvSpPr/>
          <p:nvPr/>
        </p:nvSpPr>
        <p:spPr>
          <a:xfrm>
            <a:off x="793790" y="694611"/>
            <a:ext cx="7750493"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Correlation</a:t>
            </a:r>
            <a:r>
              <a:rPr lang="en-US" sz="3100" dirty="0">
                <a:solidFill>
                  <a:srgbClr val="7030A0"/>
                </a:solidFill>
              </a:rPr>
              <a:t> </a:t>
            </a:r>
            <a:r>
              <a:rPr lang="en-US" sz="3100" dirty="0">
                <a:solidFill>
                  <a:srgbClr val="3257B8"/>
                </a:solidFill>
                <a:latin typeface="Roboto Slab" pitchFamily="34" charset="0"/>
                <a:ea typeface="Roboto Slab" pitchFamily="34" charset="-122"/>
                <a:cs typeface="Roboto Slab" pitchFamily="34" charset="-120"/>
              </a:rPr>
              <a:t>Coefficient</a:t>
            </a:r>
          </a:p>
        </p:txBody>
      </p:sp>
      <p:sp>
        <p:nvSpPr>
          <p:cNvPr id="3" name="Text 1">
            <a:extLst>
              <a:ext uri="{FF2B5EF4-FFF2-40B4-BE49-F238E27FC236}">
                <a16:creationId xmlns:a16="http://schemas.microsoft.com/office/drawing/2014/main" id="{F8CBCFD7-E53C-571B-4F52-B2658DE1BBF3}"/>
              </a:ext>
            </a:extLst>
          </p:cNvPr>
          <p:cNvSpPr/>
          <p:nvPr/>
        </p:nvSpPr>
        <p:spPr>
          <a:xfrm>
            <a:off x="793790" y="1587579"/>
            <a:ext cx="6036996" cy="1618264"/>
          </a:xfrm>
          <a:prstGeom prst="rect">
            <a:avLst/>
          </a:prstGeom>
          <a:noFill/>
          <a:ln/>
        </p:spPr>
        <p:txBody>
          <a:bodyPr wrap="none" lIns="0" tIns="0" rIns="0" bIns="0" rtlCol="0" anchor="t"/>
          <a:lstStyle/>
          <a:p>
            <a:pPr marL="0" indent="0" algn="l">
              <a:lnSpc>
                <a:spcPts val="2300"/>
              </a:lnSpc>
              <a:buNone/>
            </a:pPr>
            <a:endParaRPr lang="en-US" sz="1850" dirty="0"/>
          </a:p>
        </p:txBody>
      </p:sp>
      <p:sp>
        <p:nvSpPr>
          <p:cNvPr id="6" name="Text 4">
            <a:extLst>
              <a:ext uri="{FF2B5EF4-FFF2-40B4-BE49-F238E27FC236}">
                <a16:creationId xmlns:a16="http://schemas.microsoft.com/office/drawing/2014/main" id="{E91BDC9E-D69D-8BEA-79A4-C34189E4448D}"/>
              </a:ext>
            </a:extLst>
          </p:cNvPr>
          <p:cNvSpPr/>
          <p:nvPr/>
        </p:nvSpPr>
        <p:spPr>
          <a:xfrm>
            <a:off x="648380" y="1779815"/>
            <a:ext cx="13334320" cy="1612855"/>
          </a:xfrm>
          <a:prstGeom prst="rect">
            <a:avLst/>
          </a:prstGeom>
          <a:noFill/>
          <a:ln/>
        </p:spPr>
        <p:txBody>
          <a:bodyPr wrap="square" lIns="0" tIns="0" rIns="0" bIns="0" rtlCol="0" anchor="t"/>
          <a:lstStyle/>
          <a:p>
            <a:pPr>
              <a:lnSpc>
                <a:spcPts val="2000"/>
              </a:lnSpc>
            </a:pPr>
            <a:r>
              <a:rPr lang="en-US" sz="1550" dirty="0">
                <a:solidFill>
                  <a:srgbClr val="15213F"/>
                </a:solidFill>
                <a:latin typeface="Roboto" pitchFamily="34" charset="0"/>
                <a:ea typeface="Roboto" pitchFamily="34" charset="-122"/>
                <a:cs typeface="Roboto" pitchFamily="34" charset="-120"/>
              </a:rPr>
              <a:t>The correlation coefficient measures the strength and direction of a linear relationship between two variables, which is useful in assessing investment risks and optimizing portfolios. </a:t>
            </a:r>
          </a:p>
        </p:txBody>
      </p:sp>
      <p:pic>
        <p:nvPicPr>
          <p:cNvPr id="7" name="Picture 6">
            <a:extLst>
              <a:ext uri="{FF2B5EF4-FFF2-40B4-BE49-F238E27FC236}">
                <a16:creationId xmlns:a16="http://schemas.microsoft.com/office/drawing/2014/main" id="{C530FE69-1288-5499-3AC7-D3F89D04AD5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672" y="3069771"/>
            <a:ext cx="5861957" cy="4212772"/>
          </a:xfrm>
          <a:prstGeom prst="rect">
            <a:avLst/>
          </a:prstGeom>
          <a:noFill/>
          <a:ln>
            <a:noFill/>
          </a:ln>
        </p:spPr>
      </p:pic>
      <p:pic>
        <p:nvPicPr>
          <p:cNvPr id="11" name="Picture 10" descr="A diagram of a heat map&#10;&#10;AI-generated content may be incorrect.">
            <a:extLst>
              <a:ext uri="{FF2B5EF4-FFF2-40B4-BE49-F238E27FC236}">
                <a16:creationId xmlns:a16="http://schemas.microsoft.com/office/drawing/2014/main" id="{A3696117-F05A-01CC-61F8-0C570AEF38F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99886" y="3069771"/>
            <a:ext cx="5861956" cy="4272643"/>
          </a:xfrm>
          <a:prstGeom prst="rect">
            <a:avLst/>
          </a:prstGeom>
          <a:noFill/>
          <a:ln>
            <a:noFill/>
          </a:ln>
        </p:spPr>
      </p:pic>
    </p:spTree>
    <p:extLst>
      <p:ext uri="{BB962C8B-B14F-4D97-AF65-F5344CB8AC3E}">
        <p14:creationId xmlns:p14="http://schemas.microsoft.com/office/powerpoint/2010/main" val="2439595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2010013"/>
            <a:ext cx="9058870"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Machine Learning Model Performance</a:t>
            </a:r>
            <a:endParaRPr lang="en-US" sz="3900" dirty="0"/>
          </a:p>
        </p:txBody>
      </p:sp>
      <p:sp>
        <p:nvSpPr>
          <p:cNvPr id="3" name="Shape 1"/>
          <p:cNvSpPr/>
          <p:nvPr/>
        </p:nvSpPr>
        <p:spPr>
          <a:xfrm>
            <a:off x="793790" y="3026926"/>
            <a:ext cx="4215289" cy="2334220"/>
          </a:xfrm>
          <a:prstGeom prst="roundRect">
            <a:avLst>
              <a:gd name="adj" fmla="val 1275"/>
            </a:avLst>
          </a:prstGeom>
          <a:solidFill>
            <a:srgbClr val="E9ECF2"/>
          </a:solidFill>
          <a:ln/>
        </p:spPr>
        <p:txBody>
          <a:bodyPr/>
          <a:lstStyle/>
          <a:p>
            <a:endParaRPr lang="en-US"/>
          </a:p>
        </p:txBody>
      </p:sp>
      <p:sp>
        <p:nvSpPr>
          <p:cNvPr id="4" name="Text 2"/>
          <p:cNvSpPr/>
          <p:nvPr/>
        </p:nvSpPr>
        <p:spPr>
          <a:xfrm>
            <a:off x="992148" y="322528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Random Forest</a:t>
            </a:r>
            <a:endParaRPr lang="en-US" sz="1950" dirty="0"/>
          </a:p>
        </p:txBody>
      </p:sp>
      <p:sp>
        <p:nvSpPr>
          <p:cNvPr id="5" name="Text 3"/>
          <p:cNvSpPr/>
          <p:nvPr/>
        </p:nvSpPr>
        <p:spPr>
          <a:xfrm>
            <a:off x="992148" y="3654504"/>
            <a:ext cx="3818573"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BTC:</a:t>
            </a:r>
            <a:r>
              <a:rPr lang="en-US" sz="1550" dirty="0">
                <a:solidFill>
                  <a:srgbClr val="15213F"/>
                </a:solidFill>
                <a:latin typeface="Roboto" pitchFamily="34" charset="0"/>
                <a:ea typeface="Roboto" pitchFamily="34" charset="-122"/>
                <a:cs typeface="Roboto" pitchFamily="34" charset="-120"/>
              </a:rPr>
              <a:t> 51.0% average accuracy across folds</a:t>
            </a:r>
            <a:endParaRPr lang="en-US" sz="1550" dirty="0"/>
          </a:p>
        </p:txBody>
      </p:sp>
      <p:sp>
        <p:nvSpPr>
          <p:cNvPr id="6" name="Text 4"/>
          <p:cNvSpPr/>
          <p:nvPr/>
        </p:nvSpPr>
        <p:spPr>
          <a:xfrm>
            <a:off x="992148" y="4091107"/>
            <a:ext cx="3818573"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ETH:</a:t>
            </a:r>
            <a:r>
              <a:rPr lang="en-US" sz="1550" dirty="0">
                <a:solidFill>
                  <a:srgbClr val="15213F"/>
                </a:solidFill>
                <a:latin typeface="Roboto" pitchFamily="34" charset="0"/>
                <a:ea typeface="Roboto" pitchFamily="34" charset="-122"/>
                <a:cs typeface="Roboto" pitchFamily="34" charset="-120"/>
              </a:rPr>
              <a:t> 64% average accuracy</a:t>
            </a:r>
            <a:endParaRPr lang="en-US" sz="1550" dirty="0"/>
          </a:p>
        </p:txBody>
      </p:sp>
      <p:sp>
        <p:nvSpPr>
          <p:cNvPr id="7" name="Text 5"/>
          <p:cNvSpPr/>
          <p:nvPr/>
        </p:nvSpPr>
        <p:spPr>
          <a:xfrm>
            <a:off x="992148" y="4527709"/>
            <a:ext cx="3818573"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Timeseries split ensured representative sampling</a:t>
            </a:r>
            <a:endParaRPr lang="en-US" sz="1550" dirty="0"/>
          </a:p>
        </p:txBody>
      </p:sp>
      <p:sp>
        <p:nvSpPr>
          <p:cNvPr id="8" name="Shape 6"/>
          <p:cNvSpPr/>
          <p:nvPr/>
        </p:nvSpPr>
        <p:spPr>
          <a:xfrm>
            <a:off x="5207437" y="3026926"/>
            <a:ext cx="4215408" cy="2334220"/>
          </a:xfrm>
          <a:prstGeom prst="roundRect">
            <a:avLst>
              <a:gd name="adj" fmla="val 1275"/>
            </a:avLst>
          </a:prstGeom>
          <a:solidFill>
            <a:srgbClr val="E9ECF2"/>
          </a:solidFill>
          <a:ln/>
        </p:spPr>
        <p:txBody>
          <a:bodyPr/>
          <a:lstStyle/>
          <a:p>
            <a:endParaRPr lang="en-US"/>
          </a:p>
        </p:txBody>
      </p:sp>
      <p:sp>
        <p:nvSpPr>
          <p:cNvPr id="9" name="Text 7"/>
          <p:cNvSpPr/>
          <p:nvPr/>
        </p:nvSpPr>
        <p:spPr>
          <a:xfrm>
            <a:off x="5405795" y="3225284"/>
            <a:ext cx="2617470"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LSTM (Deep Learning)</a:t>
            </a:r>
            <a:endParaRPr lang="en-US" sz="1950" dirty="0"/>
          </a:p>
        </p:txBody>
      </p:sp>
      <p:sp>
        <p:nvSpPr>
          <p:cNvPr id="10" name="Text 8"/>
          <p:cNvSpPr/>
          <p:nvPr/>
        </p:nvSpPr>
        <p:spPr>
          <a:xfrm>
            <a:off x="5405795" y="3654504"/>
            <a:ext cx="3818692"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BTC:</a:t>
            </a:r>
            <a:r>
              <a:rPr lang="en-US" sz="1550" dirty="0">
                <a:solidFill>
                  <a:srgbClr val="15213F"/>
                </a:solidFill>
                <a:latin typeface="Roboto" pitchFamily="34" charset="0"/>
                <a:ea typeface="Roboto" pitchFamily="34" charset="-122"/>
                <a:cs typeface="Roboto" pitchFamily="34" charset="-120"/>
              </a:rPr>
              <a:t> 67.6% Overall accuracy</a:t>
            </a:r>
            <a:endParaRPr lang="en-US" sz="1550" dirty="0"/>
          </a:p>
        </p:txBody>
      </p:sp>
      <p:sp>
        <p:nvSpPr>
          <p:cNvPr id="11" name="Text 9"/>
          <p:cNvSpPr/>
          <p:nvPr/>
        </p:nvSpPr>
        <p:spPr>
          <a:xfrm>
            <a:off x="5405795" y="4091107"/>
            <a:ext cx="3818692"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ETH:</a:t>
            </a:r>
            <a:r>
              <a:rPr lang="en-US" sz="1550" dirty="0">
                <a:solidFill>
                  <a:srgbClr val="15213F"/>
                </a:solidFill>
                <a:latin typeface="Roboto" pitchFamily="34" charset="0"/>
                <a:ea typeface="Roboto" pitchFamily="34" charset="-122"/>
                <a:cs typeface="Roboto" pitchFamily="34" charset="-120"/>
              </a:rPr>
              <a:t> 66.4% Overall accuracy</a:t>
            </a:r>
            <a:endParaRPr lang="en-US" sz="1550" dirty="0"/>
          </a:p>
        </p:txBody>
      </p:sp>
      <p:sp>
        <p:nvSpPr>
          <p:cNvPr id="12" name="Text 10"/>
          <p:cNvSpPr/>
          <p:nvPr/>
        </p:nvSpPr>
        <p:spPr>
          <a:xfrm>
            <a:off x="5405795" y="4527709"/>
            <a:ext cx="3818692"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Moderate to superior performance for sequential data patterns</a:t>
            </a:r>
            <a:endParaRPr lang="en-US" sz="1550" dirty="0"/>
          </a:p>
        </p:txBody>
      </p:sp>
      <p:sp>
        <p:nvSpPr>
          <p:cNvPr id="13" name="Shape 11"/>
          <p:cNvSpPr/>
          <p:nvPr/>
        </p:nvSpPr>
        <p:spPr>
          <a:xfrm>
            <a:off x="9621203" y="3026926"/>
            <a:ext cx="4215289" cy="2334220"/>
          </a:xfrm>
          <a:prstGeom prst="roundRect">
            <a:avLst>
              <a:gd name="adj" fmla="val 1275"/>
            </a:avLst>
          </a:prstGeom>
          <a:solidFill>
            <a:srgbClr val="E9ECF2"/>
          </a:solidFill>
          <a:ln/>
        </p:spPr>
        <p:txBody>
          <a:bodyPr/>
          <a:lstStyle/>
          <a:p>
            <a:endParaRPr lang="en-US"/>
          </a:p>
        </p:txBody>
      </p:sp>
      <p:sp>
        <p:nvSpPr>
          <p:cNvPr id="14" name="Text 12"/>
          <p:cNvSpPr/>
          <p:nvPr/>
        </p:nvSpPr>
        <p:spPr>
          <a:xfrm>
            <a:off x="9819561" y="322528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SVM</a:t>
            </a:r>
            <a:endParaRPr lang="en-US" sz="1950" dirty="0"/>
          </a:p>
        </p:txBody>
      </p:sp>
      <p:sp>
        <p:nvSpPr>
          <p:cNvPr id="15" name="Text 13"/>
          <p:cNvSpPr/>
          <p:nvPr/>
        </p:nvSpPr>
        <p:spPr>
          <a:xfrm>
            <a:off x="9819561" y="3654504"/>
            <a:ext cx="3818573"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BTC:</a:t>
            </a:r>
            <a:r>
              <a:rPr lang="en-US" sz="1550" dirty="0">
                <a:solidFill>
                  <a:srgbClr val="15213F"/>
                </a:solidFill>
                <a:latin typeface="Roboto" pitchFamily="34" charset="0"/>
                <a:ea typeface="Roboto" pitchFamily="34" charset="-122"/>
                <a:cs typeface="Roboto" pitchFamily="34" charset="-120"/>
              </a:rPr>
              <a:t> 67.6% Overall accuracy</a:t>
            </a:r>
            <a:endParaRPr lang="en-US" sz="1550" dirty="0"/>
          </a:p>
        </p:txBody>
      </p:sp>
      <p:sp>
        <p:nvSpPr>
          <p:cNvPr id="16" name="Text 14"/>
          <p:cNvSpPr/>
          <p:nvPr/>
        </p:nvSpPr>
        <p:spPr>
          <a:xfrm>
            <a:off x="9819561" y="4091107"/>
            <a:ext cx="3818573"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ETH:</a:t>
            </a:r>
            <a:r>
              <a:rPr lang="en-US" sz="1550" dirty="0">
                <a:solidFill>
                  <a:srgbClr val="15213F"/>
                </a:solidFill>
                <a:latin typeface="Roboto" pitchFamily="34" charset="0"/>
                <a:ea typeface="Roboto" pitchFamily="34" charset="-122"/>
                <a:cs typeface="Roboto" pitchFamily="34" charset="-120"/>
              </a:rPr>
              <a:t> 70% Overall accuracy</a:t>
            </a:r>
            <a:endParaRPr lang="en-US" sz="1550" dirty="0"/>
          </a:p>
        </p:txBody>
      </p:sp>
      <p:sp>
        <p:nvSpPr>
          <p:cNvPr id="17" name="Text 15"/>
          <p:cNvSpPr/>
          <p:nvPr/>
        </p:nvSpPr>
        <p:spPr>
          <a:xfrm>
            <a:off x="9819561" y="4527709"/>
            <a:ext cx="3818573"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Comparable performance to LSTM with different approach</a:t>
            </a:r>
            <a:endParaRPr lang="en-US" sz="1550" dirty="0"/>
          </a:p>
        </p:txBody>
      </p:sp>
      <p:sp>
        <p:nvSpPr>
          <p:cNvPr id="18" name="Text 16"/>
          <p:cNvSpPr/>
          <p:nvPr/>
        </p:nvSpPr>
        <p:spPr>
          <a:xfrm>
            <a:off x="793790" y="5584388"/>
            <a:ext cx="13042821" cy="1404241"/>
          </a:xfrm>
          <a:prstGeom prst="rect">
            <a:avLst/>
          </a:prstGeom>
          <a:noFill/>
          <a:ln/>
        </p:spPr>
        <p:txBody>
          <a:bodyPr wrap="square" lIns="0" tIns="0" rIns="0" bIns="0" rtlCol="0" anchor="t"/>
          <a:lstStyle/>
          <a:p>
            <a:pPr>
              <a:lnSpc>
                <a:spcPts val="2500"/>
              </a:lnSpc>
            </a:pPr>
            <a:r>
              <a:rPr lang="en-US" sz="1550" dirty="0">
                <a:solidFill>
                  <a:srgbClr val="15213F"/>
                </a:solidFill>
                <a:latin typeface="Roboto" pitchFamily="34" charset="0"/>
                <a:ea typeface="Roboto" pitchFamily="34" charset="-122"/>
                <a:cs typeface="Roboto" pitchFamily="34" charset="-120"/>
              </a:rPr>
              <a:t>Data scaling using MinMax scaler significantly improved model performance. LSTM and SVM models achieved the highest accuracy rates for price direction prediction.  TimeseriesSplit is a variation of k-fold technique which is utilized for balanced sampling in Random Forest algorithm. </a:t>
            </a:r>
            <a:r>
              <a:rPr lang="en-US" dirty="0"/>
              <a:t> </a:t>
            </a:r>
            <a:r>
              <a:rPr lang="en-US" sz="1550" dirty="0" err="1">
                <a:latin typeface="Roboto" panose="02000000000000000000" pitchFamily="2" charset="0"/>
                <a:ea typeface="Roboto" panose="02000000000000000000" pitchFamily="2" charset="0"/>
                <a:cs typeface="Roboto" panose="02000000000000000000" pitchFamily="2" charset="0"/>
              </a:rPr>
              <a:t>timeSeriesSplit</a:t>
            </a:r>
            <a:r>
              <a:rPr lang="en-US" sz="1550" dirty="0">
                <a:latin typeface="Roboto" panose="02000000000000000000" pitchFamily="2" charset="0"/>
                <a:ea typeface="Roboto" panose="02000000000000000000" pitchFamily="2" charset="0"/>
                <a:cs typeface="Roboto" panose="02000000000000000000" pitchFamily="2" charset="0"/>
              </a:rPr>
              <a:t> is a cross-validation technique that respects the order of time, always using older data for training and newer data for testing. This accurately simulates real-world forecasting where you predict future outcomes based on the past.</a:t>
            </a:r>
          </a:p>
          <a:p>
            <a:pPr marL="0" indent="0" algn="l">
              <a:lnSpc>
                <a:spcPts val="2500"/>
              </a:lnSpc>
              <a:buNone/>
            </a:pPr>
            <a:endParaRPr lang="en-US" sz="1550" dirty="0">
              <a:solidFill>
                <a:srgbClr val="15213F"/>
              </a:solidFill>
              <a:latin typeface="Roboto" pitchFamily="34" charset="0"/>
              <a:ea typeface="Roboto" pitchFamily="34" charset="-122"/>
              <a:cs typeface="Roboto" pitchFamily="34" charset="-120"/>
            </a:endParaRPr>
          </a:p>
          <a:p>
            <a:pPr marL="0" indent="0" algn="l">
              <a:lnSpc>
                <a:spcPts val="2500"/>
              </a:lnSpc>
              <a:buNone/>
            </a:pP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DA6E8A-721D-3C92-4C7B-58834997334B}"/>
              </a:ext>
            </a:extLst>
          </p:cNvPr>
          <p:cNvSpPr txBox="1"/>
          <p:nvPr/>
        </p:nvSpPr>
        <p:spPr>
          <a:xfrm>
            <a:off x="1398813" y="843643"/>
            <a:ext cx="10303329" cy="1569660"/>
          </a:xfrm>
          <a:prstGeom prst="rect">
            <a:avLst/>
          </a:prstGeom>
          <a:noFill/>
        </p:spPr>
        <p:txBody>
          <a:bodyPr wrap="square" rtlCol="0">
            <a:spAutoFit/>
          </a:bodyPr>
          <a:lstStyle/>
          <a:p>
            <a:r>
              <a:rPr lang="en-US" sz="3900" dirty="0">
                <a:solidFill>
                  <a:srgbClr val="3257B8"/>
                </a:solidFill>
                <a:latin typeface="Roboto Slab" pitchFamily="34" charset="0"/>
                <a:ea typeface="Roboto Slab" pitchFamily="34" charset="-122"/>
                <a:cs typeface="Roboto Slab" pitchFamily="34" charset="-120"/>
              </a:rPr>
              <a:t>BTC Forecast for 3  month Price for LSTM and SVM</a:t>
            </a:r>
            <a:r>
              <a:rPr lang="en-US" i="1" dirty="0"/>
              <a:t>:</a:t>
            </a:r>
            <a:endParaRPr lang="en-US" dirty="0"/>
          </a:p>
          <a:p>
            <a:endParaRPr lang="en-US" dirty="0"/>
          </a:p>
        </p:txBody>
      </p:sp>
      <p:pic>
        <p:nvPicPr>
          <p:cNvPr id="3" name="Picture 2" descr="A graph showing the price of a stock market&#10;&#10;AI-generated content may be incorrect.">
            <a:extLst>
              <a:ext uri="{FF2B5EF4-FFF2-40B4-BE49-F238E27FC236}">
                <a16:creationId xmlns:a16="http://schemas.microsoft.com/office/drawing/2014/main" id="{A3B0A4CC-1256-020B-47EE-D3753865FC2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0327" y="2488292"/>
            <a:ext cx="10303329" cy="4554765"/>
          </a:xfrm>
          <a:prstGeom prst="rect">
            <a:avLst/>
          </a:prstGeom>
          <a:noFill/>
          <a:ln>
            <a:noFill/>
          </a:ln>
        </p:spPr>
      </p:pic>
    </p:spTree>
    <p:extLst>
      <p:ext uri="{BB962C8B-B14F-4D97-AF65-F5344CB8AC3E}">
        <p14:creationId xmlns:p14="http://schemas.microsoft.com/office/powerpoint/2010/main" val="3385462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showing the price of a bitcoin&#10;&#10;AI-generated content may be incorrect.">
            <a:extLst>
              <a:ext uri="{FF2B5EF4-FFF2-40B4-BE49-F238E27FC236}">
                <a16:creationId xmlns:a16="http://schemas.microsoft.com/office/drawing/2014/main" id="{8ABD5957-1619-6AAB-88E7-ED457037AD1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5385" y="2661557"/>
            <a:ext cx="10994571" cy="4261757"/>
          </a:xfrm>
          <a:prstGeom prst="rect">
            <a:avLst/>
          </a:prstGeom>
          <a:noFill/>
          <a:ln>
            <a:noFill/>
          </a:ln>
        </p:spPr>
      </p:pic>
      <p:sp>
        <p:nvSpPr>
          <p:cNvPr id="3" name="TextBox 2">
            <a:extLst>
              <a:ext uri="{FF2B5EF4-FFF2-40B4-BE49-F238E27FC236}">
                <a16:creationId xmlns:a16="http://schemas.microsoft.com/office/drawing/2014/main" id="{77C330A8-467E-F7D7-8C21-ADEBB1BCD0C5}"/>
              </a:ext>
            </a:extLst>
          </p:cNvPr>
          <p:cNvSpPr txBox="1"/>
          <p:nvPr/>
        </p:nvSpPr>
        <p:spPr>
          <a:xfrm>
            <a:off x="1790699" y="664029"/>
            <a:ext cx="10303329" cy="1569660"/>
          </a:xfrm>
          <a:prstGeom prst="rect">
            <a:avLst/>
          </a:prstGeom>
          <a:noFill/>
        </p:spPr>
        <p:txBody>
          <a:bodyPr wrap="square" rtlCol="0">
            <a:spAutoFit/>
          </a:bodyPr>
          <a:lstStyle/>
          <a:p>
            <a:r>
              <a:rPr lang="en-US" sz="3900" dirty="0">
                <a:solidFill>
                  <a:srgbClr val="3257B8"/>
                </a:solidFill>
                <a:latin typeface="Roboto Slab" pitchFamily="34" charset="0"/>
                <a:ea typeface="Roboto Slab" pitchFamily="34" charset="-122"/>
                <a:cs typeface="Roboto Slab" pitchFamily="34" charset="-120"/>
              </a:rPr>
              <a:t>ETH Forecast for 3  month Price for LSTM and SVM</a:t>
            </a:r>
            <a:r>
              <a:rPr lang="en-US" i="1" dirty="0"/>
              <a:t>:</a:t>
            </a:r>
            <a:endParaRPr lang="en-US" dirty="0"/>
          </a:p>
          <a:p>
            <a:endParaRPr lang="en-US" dirty="0"/>
          </a:p>
        </p:txBody>
      </p:sp>
    </p:spTree>
    <p:extLst>
      <p:ext uri="{BB962C8B-B14F-4D97-AF65-F5344CB8AC3E}">
        <p14:creationId xmlns:p14="http://schemas.microsoft.com/office/powerpoint/2010/main" val="2410966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232779"/>
          </a:xfrm>
          <a:prstGeom prst="rect">
            <a:avLst/>
          </a:prstGeom>
        </p:spPr>
      </p:pic>
      <p:sp>
        <p:nvSpPr>
          <p:cNvPr id="3" name="Text 0"/>
          <p:cNvSpPr/>
          <p:nvPr/>
        </p:nvSpPr>
        <p:spPr>
          <a:xfrm>
            <a:off x="793790" y="2929533"/>
            <a:ext cx="6740247" cy="558165"/>
          </a:xfrm>
          <a:prstGeom prst="rect">
            <a:avLst/>
          </a:prstGeom>
          <a:noFill/>
          <a:ln/>
        </p:spPr>
        <p:txBody>
          <a:bodyPr wrap="none" lIns="0" tIns="0" rIns="0" bIns="0" rtlCol="0" anchor="t"/>
          <a:lstStyle/>
          <a:p>
            <a:pPr marL="0" indent="0" algn="l">
              <a:lnSpc>
                <a:spcPts val="4350"/>
              </a:lnSpc>
              <a:buNone/>
            </a:pPr>
            <a:r>
              <a:rPr lang="en-US" sz="3500" dirty="0">
                <a:solidFill>
                  <a:srgbClr val="3257B8"/>
                </a:solidFill>
                <a:latin typeface="Roboto Slab" pitchFamily="34" charset="0"/>
                <a:ea typeface="Roboto Slab" pitchFamily="34" charset="-122"/>
                <a:cs typeface="Roboto Slab" pitchFamily="34" charset="-120"/>
              </a:rPr>
              <a:t>Conclusions &amp; Future Directions</a:t>
            </a:r>
            <a:endParaRPr lang="en-US" sz="3500" dirty="0"/>
          </a:p>
        </p:txBody>
      </p:sp>
      <p:sp>
        <p:nvSpPr>
          <p:cNvPr id="4" name="Text 1"/>
          <p:cNvSpPr/>
          <p:nvPr/>
        </p:nvSpPr>
        <p:spPr>
          <a:xfrm>
            <a:off x="793790" y="3934182"/>
            <a:ext cx="2679383" cy="334804"/>
          </a:xfrm>
          <a:prstGeom prst="rect">
            <a:avLst/>
          </a:prstGeom>
          <a:noFill/>
          <a:ln/>
        </p:spPr>
        <p:txBody>
          <a:bodyPr wrap="none" lIns="0" tIns="0" rIns="0" bIns="0" rtlCol="0" anchor="t"/>
          <a:lstStyle/>
          <a:p>
            <a:pPr marL="0" indent="0" algn="l">
              <a:lnSpc>
                <a:spcPts val="2600"/>
              </a:lnSpc>
              <a:buNone/>
            </a:pPr>
            <a:r>
              <a:rPr lang="en-US" sz="2100" dirty="0">
                <a:solidFill>
                  <a:srgbClr val="3257B8"/>
                </a:solidFill>
                <a:latin typeface="Roboto Slab" pitchFamily="34" charset="0"/>
                <a:ea typeface="Roboto Slab" pitchFamily="34" charset="-122"/>
                <a:cs typeface="Roboto Slab" pitchFamily="34" charset="-120"/>
              </a:rPr>
              <a:t>Key Takeaways</a:t>
            </a:r>
            <a:endParaRPr lang="en-US" sz="2100" dirty="0"/>
          </a:p>
        </p:txBody>
      </p:sp>
      <p:sp>
        <p:nvSpPr>
          <p:cNvPr id="5" name="Text 2"/>
          <p:cNvSpPr/>
          <p:nvPr/>
        </p:nvSpPr>
        <p:spPr>
          <a:xfrm>
            <a:off x="793790" y="4447580"/>
            <a:ext cx="6303526" cy="571500"/>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15213F"/>
                </a:solidFill>
                <a:latin typeface="Roboto" pitchFamily="34" charset="0"/>
                <a:ea typeface="Roboto" pitchFamily="34" charset="-122"/>
                <a:cs typeface="Roboto" pitchFamily="34" charset="-120"/>
              </a:rPr>
              <a:t>Volume of sentiment data is a strong predictor of cryptocurrency price movements</a:t>
            </a:r>
            <a:endParaRPr lang="en-US" sz="1400" dirty="0"/>
          </a:p>
        </p:txBody>
      </p:sp>
      <p:sp>
        <p:nvSpPr>
          <p:cNvPr id="6" name="Text 3"/>
          <p:cNvSpPr/>
          <p:nvPr/>
        </p:nvSpPr>
        <p:spPr>
          <a:xfrm>
            <a:off x="793790" y="5081588"/>
            <a:ext cx="6303526" cy="571500"/>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15213F"/>
                </a:solidFill>
                <a:latin typeface="Roboto" pitchFamily="34" charset="0"/>
                <a:ea typeface="Roboto" pitchFamily="34" charset="-122"/>
                <a:cs typeface="Roboto" pitchFamily="34" charset="-120"/>
              </a:rPr>
              <a:t>Previous day sentiment shows stronger correlation than current day sentiment</a:t>
            </a:r>
            <a:endParaRPr lang="en-US" sz="1400" dirty="0"/>
          </a:p>
        </p:txBody>
      </p:sp>
      <p:sp>
        <p:nvSpPr>
          <p:cNvPr id="7" name="Text 4"/>
          <p:cNvSpPr/>
          <p:nvPr/>
        </p:nvSpPr>
        <p:spPr>
          <a:xfrm>
            <a:off x="793790" y="5715595"/>
            <a:ext cx="6303526" cy="28575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15213F"/>
                </a:solidFill>
                <a:latin typeface="Roboto" pitchFamily="34" charset="0"/>
                <a:ea typeface="Roboto" pitchFamily="34" charset="-122"/>
                <a:cs typeface="Roboto" pitchFamily="34" charset="-120"/>
              </a:rPr>
              <a:t>LSTM and SVM models achieved 70% accuracy for Bitcoin price direction</a:t>
            </a:r>
            <a:endParaRPr lang="en-US" sz="1400" dirty="0"/>
          </a:p>
        </p:txBody>
      </p:sp>
      <p:sp>
        <p:nvSpPr>
          <p:cNvPr id="8" name="Text 5"/>
          <p:cNvSpPr/>
          <p:nvPr/>
        </p:nvSpPr>
        <p:spPr>
          <a:xfrm>
            <a:off x="793790" y="6063853"/>
            <a:ext cx="6303526" cy="571500"/>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15213F"/>
                </a:solidFill>
                <a:latin typeface="Roboto" pitchFamily="34" charset="0"/>
                <a:ea typeface="Roboto" pitchFamily="34" charset="-122"/>
                <a:cs typeface="Roboto" pitchFamily="34" charset="-120"/>
              </a:rPr>
              <a:t>Azure Cosmos DB provides superior scalability and performance over CSV storage</a:t>
            </a:r>
            <a:endParaRPr lang="en-US" sz="1400" dirty="0"/>
          </a:p>
        </p:txBody>
      </p:sp>
      <p:sp>
        <p:nvSpPr>
          <p:cNvPr id="9" name="Text 6"/>
          <p:cNvSpPr/>
          <p:nvPr/>
        </p:nvSpPr>
        <p:spPr>
          <a:xfrm>
            <a:off x="793790" y="6697861"/>
            <a:ext cx="6303526" cy="28575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15213F"/>
                </a:solidFill>
                <a:latin typeface="Roboto" pitchFamily="34" charset="0"/>
                <a:ea typeface="Roboto" pitchFamily="34" charset="-122"/>
                <a:cs typeface="Roboto" pitchFamily="34" charset="-120"/>
              </a:rPr>
              <a:t>Rigorous data cleaning and preprocessing are critical for model accuracy</a:t>
            </a:r>
            <a:endParaRPr lang="en-US" sz="1400" dirty="0"/>
          </a:p>
        </p:txBody>
      </p:sp>
      <p:sp>
        <p:nvSpPr>
          <p:cNvPr id="10" name="Text 7"/>
          <p:cNvSpPr/>
          <p:nvPr/>
        </p:nvSpPr>
        <p:spPr>
          <a:xfrm>
            <a:off x="7540704" y="3934182"/>
            <a:ext cx="2724150" cy="334804"/>
          </a:xfrm>
          <a:prstGeom prst="rect">
            <a:avLst/>
          </a:prstGeom>
          <a:noFill/>
          <a:ln/>
        </p:spPr>
        <p:txBody>
          <a:bodyPr wrap="none" lIns="0" tIns="0" rIns="0" bIns="0" rtlCol="0" anchor="t"/>
          <a:lstStyle/>
          <a:p>
            <a:pPr marL="0" indent="0" algn="l">
              <a:lnSpc>
                <a:spcPts val="2600"/>
              </a:lnSpc>
              <a:buNone/>
            </a:pPr>
            <a:r>
              <a:rPr lang="en-US" sz="2100" dirty="0">
                <a:solidFill>
                  <a:srgbClr val="3257B8"/>
                </a:solidFill>
                <a:latin typeface="Roboto Slab" pitchFamily="34" charset="0"/>
                <a:ea typeface="Roboto Slab" pitchFamily="34" charset="-122"/>
                <a:cs typeface="Roboto Slab" pitchFamily="34" charset="-120"/>
              </a:rPr>
              <a:t>Challenges Overcome</a:t>
            </a:r>
            <a:endParaRPr lang="en-US" sz="2100" dirty="0"/>
          </a:p>
        </p:txBody>
      </p:sp>
      <p:sp>
        <p:nvSpPr>
          <p:cNvPr id="11" name="Text 8"/>
          <p:cNvSpPr/>
          <p:nvPr/>
        </p:nvSpPr>
        <p:spPr>
          <a:xfrm>
            <a:off x="7540704" y="4447580"/>
            <a:ext cx="6303526" cy="28575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15213F"/>
                </a:solidFill>
                <a:latin typeface="Roboto" pitchFamily="34" charset="0"/>
                <a:ea typeface="Roboto" pitchFamily="34" charset="-122"/>
                <a:cs typeface="Roboto" pitchFamily="34" charset="-120"/>
              </a:rPr>
              <a:t>Migrated from CSV to Azure Cosmos DB (10+ hours troubleshooting)</a:t>
            </a:r>
            <a:endParaRPr lang="en-US" sz="1400" dirty="0"/>
          </a:p>
        </p:txBody>
      </p:sp>
      <p:sp>
        <p:nvSpPr>
          <p:cNvPr id="12" name="Text 9"/>
          <p:cNvSpPr/>
          <p:nvPr/>
        </p:nvSpPr>
        <p:spPr>
          <a:xfrm>
            <a:off x="7540704" y="4795838"/>
            <a:ext cx="6303526" cy="28575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15213F"/>
                </a:solidFill>
                <a:latin typeface="Roboto" pitchFamily="34" charset="0"/>
                <a:ea typeface="Roboto" pitchFamily="34" charset="-122"/>
                <a:cs typeface="Roboto" pitchFamily="34" charset="-120"/>
              </a:rPr>
              <a:t>Resolved Google Colab dynamic IP networking issues</a:t>
            </a:r>
            <a:endParaRPr lang="en-US" sz="1400" dirty="0"/>
          </a:p>
        </p:txBody>
      </p:sp>
      <p:sp>
        <p:nvSpPr>
          <p:cNvPr id="13" name="Text 10"/>
          <p:cNvSpPr/>
          <p:nvPr/>
        </p:nvSpPr>
        <p:spPr>
          <a:xfrm>
            <a:off x="7540704" y="5144095"/>
            <a:ext cx="6303526" cy="28575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15213F"/>
                </a:solidFill>
                <a:latin typeface="Roboto" pitchFamily="34" charset="0"/>
                <a:ea typeface="Roboto" pitchFamily="34" charset="-122"/>
                <a:cs typeface="Roboto" pitchFamily="34" charset="-120"/>
              </a:rPr>
              <a:t>Learned PySpark from scratch, overcoming Pandas syntax defaults</a:t>
            </a:r>
            <a:endParaRPr lang="en-US" sz="1400" dirty="0"/>
          </a:p>
        </p:txBody>
      </p:sp>
      <p:sp>
        <p:nvSpPr>
          <p:cNvPr id="14" name="Text 11"/>
          <p:cNvSpPr/>
          <p:nvPr/>
        </p:nvSpPr>
        <p:spPr>
          <a:xfrm>
            <a:off x="7540704" y="5492353"/>
            <a:ext cx="6303526" cy="28575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15213F"/>
                </a:solidFill>
                <a:latin typeface="Roboto" pitchFamily="34" charset="0"/>
                <a:ea typeface="Roboto" pitchFamily="34" charset="-122"/>
                <a:cs typeface="Roboto" pitchFamily="34" charset="-120"/>
              </a:rPr>
              <a:t>Implemented timeseries split to fix random sampling and stratified K-fold failures</a:t>
            </a:r>
            <a:endParaRPr lang="en-US" sz="1400" dirty="0"/>
          </a:p>
        </p:txBody>
      </p:sp>
      <p:sp>
        <p:nvSpPr>
          <p:cNvPr id="15" name="Text 12"/>
          <p:cNvSpPr/>
          <p:nvPr/>
        </p:nvSpPr>
        <p:spPr>
          <a:xfrm>
            <a:off x="7540704" y="5840611"/>
            <a:ext cx="6303526" cy="28575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15213F"/>
                </a:solidFill>
                <a:latin typeface="Roboto" pitchFamily="34" charset="0"/>
                <a:ea typeface="Roboto" pitchFamily="34" charset="-122"/>
                <a:cs typeface="Roboto" pitchFamily="34" charset="-120"/>
              </a:rPr>
              <a:t>Optimized scalers and date splits to achieve 70% accuracy</a:t>
            </a:r>
            <a:endParaRPr lang="en-US" sz="1400" dirty="0"/>
          </a:p>
        </p:txBody>
      </p:sp>
      <p:sp>
        <p:nvSpPr>
          <p:cNvPr id="16" name="Text 13"/>
          <p:cNvSpPr/>
          <p:nvPr/>
        </p:nvSpPr>
        <p:spPr>
          <a:xfrm>
            <a:off x="793790" y="7246977"/>
            <a:ext cx="13042821" cy="285750"/>
          </a:xfrm>
          <a:prstGeom prst="rect">
            <a:avLst/>
          </a:prstGeom>
          <a:noFill/>
          <a:ln/>
        </p:spPr>
        <p:txBody>
          <a:bodyPr wrap="none" lIns="0" tIns="0" rIns="0" bIns="0" rtlCol="0" anchor="t"/>
          <a:lstStyle/>
          <a:p>
            <a:pPr marL="0" indent="0" algn="l">
              <a:lnSpc>
                <a:spcPts val="2250"/>
              </a:lnSpc>
              <a:buNone/>
            </a:pPr>
            <a:r>
              <a:rPr lang="en-US" sz="1400" b="1" dirty="0">
                <a:solidFill>
                  <a:srgbClr val="15213F"/>
                </a:solidFill>
                <a:latin typeface="Roboto" pitchFamily="34" charset="0"/>
                <a:ea typeface="Roboto" pitchFamily="34" charset="-122"/>
                <a:cs typeface="Roboto" pitchFamily="34" charset="-120"/>
              </a:rPr>
              <a:t>Acknowledgment:</a:t>
            </a:r>
            <a:r>
              <a:rPr lang="en-US" sz="1400" dirty="0">
                <a:solidFill>
                  <a:srgbClr val="15213F"/>
                </a:solidFill>
                <a:latin typeface="Roboto" pitchFamily="34" charset="0"/>
                <a:ea typeface="Roboto" pitchFamily="34" charset="-122"/>
                <a:cs typeface="Roboto" pitchFamily="34" charset="-120"/>
              </a:rPr>
              <a:t> Special thanks to Professor Seokjun Youn for guidance and feedback throughout this project.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326</TotalTime>
  <Words>1508</Words>
  <Application>Microsoft Office PowerPoint</Application>
  <PresentationFormat>Custom</PresentationFormat>
  <Paragraphs>150</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Roboto Slab</vt:lpstr>
      <vt:lpstr>Roboto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leisinm</dc:creator>
  <cp:lastModifiedBy>Joy Shaw</cp:lastModifiedBy>
  <cp:revision>6</cp:revision>
  <dcterms:created xsi:type="dcterms:W3CDTF">2025-12-06T13:38:46Z</dcterms:created>
  <dcterms:modified xsi:type="dcterms:W3CDTF">2025-12-07T00:59:54Z</dcterms:modified>
</cp:coreProperties>
</file>